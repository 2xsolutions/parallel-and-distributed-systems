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3" r:id="rId4"/>
    <p:sldId id="262" r:id="rId5"/>
    <p:sldId id="261" r:id="rId6"/>
    <p:sldId id="266" r:id="rId7"/>
    <p:sldId id="280" r:id="rId8"/>
    <p:sldId id="269" r:id="rId9"/>
    <p:sldId id="270" r:id="rId10"/>
    <p:sldId id="271" r:id="rId11"/>
    <p:sldId id="272" r:id="rId12"/>
    <p:sldId id="273" r:id="rId13"/>
    <p:sldId id="274" r:id="rId14"/>
    <p:sldId id="275" r:id="rId15"/>
    <p:sldId id="276" r:id="rId16"/>
    <p:sldId id="281" r:id="rId17"/>
    <p:sldId id="278" r:id="rId18"/>
    <p:sldId id="27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en-us/support/legal/sla/summary/" TargetMode="External"/><Relationship Id="rId2" Type="http://schemas.openxmlformats.org/officeDocument/2006/relationships/hyperlink" Target="https://aws.amazon.com/legal/service-level-agreements/" TargetMode="External"/><Relationship Id="rId1" Type="http://schemas.openxmlformats.org/officeDocument/2006/relationships/slideLayout" Target="../slideLayouts/slideLayout2.xml"/><Relationship Id="rId4" Type="http://schemas.openxmlformats.org/officeDocument/2006/relationships/hyperlink" Target="https://cloud.google.com/terms/sl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044A2B4-F6DC-C346-23ED-A9D6C00B6271}"/>
              </a:ext>
            </a:extLst>
          </p:cNvPr>
          <p:cNvSpPr>
            <a:spLocks noGrp="1"/>
          </p:cNvSpPr>
          <p:nvPr>
            <p:ph type="subTitle" idx="1"/>
          </p:nvPr>
        </p:nvSpPr>
        <p:spPr>
          <a:xfrm>
            <a:off x="1371600" y="4800600"/>
            <a:ext cx="6400800" cy="1752600"/>
          </a:xfrm>
        </p:spPr>
        <p:txBody>
          <a:bodyPr>
            <a:normAutofit/>
          </a:bodyPr>
          <a:lstStyle/>
          <a:p>
            <a:r>
              <a:rPr lang="en-US" dirty="0" err="1"/>
              <a:t>Lec</a:t>
            </a:r>
            <a:r>
              <a:rPr lang="en-US" dirty="0"/>
              <a:t> 6</a:t>
            </a:r>
          </a:p>
          <a:p>
            <a:r>
              <a:rPr lang="en-US" dirty="0"/>
              <a:t>Sla </a:t>
            </a:r>
            <a:r>
              <a:rPr lang="en-US"/>
              <a:t>Contd</a:t>
            </a:r>
            <a:endParaRPr lang="en-US" dirty="0"/>
          </a:p>
        </p:txBody>
      </p:sp>
      <p:pic>
        <p:nvPicPr>
          <p:cNvPr id="5" name="Picture 4">
            <a:extLst>
              <a:ext uri="{FF2B5EF4-FFF2-40B4-BE49-F238E27FC236}">
                <a16:creationId xmlns:a16="http://schemas.microsoft.com/office/drawing/2014/main" id="{4B71D52D-7002-B0F1-9579-015B72070D8F}"/>
              </a:ext>
            </a:extLst>
          </p:cNvPr>
          <p:cNvPicPr>
            <a:picLocks noChangeAspect="1"/>
          </p:cNvPicPr>
          <p:nvPr/>
        </p:nvPicPr>
        <p:blipFill>
          <a:blip r:embed="rId2"/>
          <a:srcRect b="13750"/>
          <a:stretch/>
        </p:blipFill>
        <p:spPr>
          <a:xfrm>
            <a:off x="861391" y="311020"/>
            <a:ext cx="7421217" cy="4267200"/>
          </a:xfrm>
          <a:prstGeom prst="rect">
            <a:avLst/>
          </a:prstGeom>
        </p:spPr>
      </p:pic>
    </p:spTree>
    <p:extLst>
      <p:ext uri="{BB962C8B-B14F-4D97-AF65-F5344CB8AC3E}">
        <p14:creationId xmlns:p14="http://schemas.microsoft.com/office/powerpoint/2010/main" val="2189718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Types of SLA</a:t>
            </a:r>
          </a:p>
        </p:txBody>
      </p:sp>
      <p:sp>
        <p:nvSpPr>
          <p:cNvPr id="3" name="Content Placeholder 2"/>
          <p:cNvSpPr>
            <a:spLocks noGrp="1"/>
          </p:cNvSpPr>
          <p:nvPr>
            <p:ph idx="1"/>
          </p:nvPr>
        </p:nvSpPr>
        <p:spPr/>
        <p:txBody>
          <a:bodyPr/>
          <a:lstStyle/>
          <a:p>
            <a:pPr marL="514350" indent="-514350">
              <a:buFont typeface="+mj-lt"/>
              <a:buAutoNum type="arabicPeriod"/>
            </a:pPr>
            <a:r>
              <a:rPr lang="en-US" dirty="0"/>
              <a:t>Service Level SLA</a:t>
            </a:r>
          </a:p>
          <a:p>
            <a:pPr marL="514350" indent="-514350">
              <a:buFont typeface="+mj-lt"/>
              <a:buAutoNum type="arabicPeriod"/>
            </a:pPr>
            <a:r>
              <a:rPr lang="en-US" dirty="0"/>
              <a:t>Customer Level SLA</a:t>
            </a:r>
          </a:p>
          <a:p>
            <a:pPr marL="514350" indent="-514350">
              <a:buFont typeface="+mj-lt"/>
              <a:buAutoNum type="arabicPeriod"/>
            </a:pPr>
            <a:r>
              <a:rPr lang="en-US" dirty="0"/>
              <a:t>Multilevel Service Level Agreement</a:t>
            </a:r>
          </a:p>
        </p:txBody>
      </p:sp>
    </p:spTree>
    <p:extLst>
      <p:ext uri="{BB962C8B-B14F-4D97-AF65-F5344CB8AC3E}">
        <p14:creationId xmlns:p14="http://schemas.microsoft.com/office/powerpoint/2010/main" val="3754673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Service Level SLA</a:t>
            </a:r>
          </a:p>
        </p:txBody>
      </p:sp>
      <p:sp>
        <p:nvSpPr>
          <p:cNvPr id="3" name="Content Placeholder 2"/>
          <p:cNvSpPr>
            <a:spLocks noGrp="1"/>
          </p:cNvSpPr>
          <p:nvPr>
            <p:ph idx="1"/>
          </p:nvPr>
        </p:nvSpPr>
        <p:spPr/>
        <p:txBody>
          <a:bodyPr/>
          <a:lstStyle/>
          <a:p>
            <a:r>
              <a:rPr lang="en-US" dirty="0"/>
              <a:t>This SLA is centered around a particular service that is the same for all customers, describing the service level expectations.</a:t>
            </a:r>
          </a:p>
          <a:p>
            <a:endParaRPr lang="en-US" dirty="0"/>
          </a:p>
          <a:p>
            <a:r>
              <a:rPr lang="en-US" dirty="0"/>
              <a:t>Example: A cloud provider guarantees 99.9% uptime for its virtual machines.</a:t>
            </a:r>
          </a:p>
          <a:p>
            <a:endParaRPr lang="en-US" dirty="0"/>
          </a:p>
        </p:txBody>
      </p:sp>
    </p:spTree>
    <p:extLst>
      <p:ext uri="{BB962C8B-B14F-4D97-AF65-F5344CB8AC3E}">
        <p14:creationId xmlns:p14="http://schemas.microsoft.com/office/powerpoint/2010/main" val="2136357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Customer Level SLA</a:t>
            </a:r>
          </a:p>
        </p:txBody>
      </p:sp>
      <p:sp>
        <p:nvSpPr>
          <p:cNvPr id="3" name="Content Placeholder 2"/>
          <p:cNvSpPr>
            <a:spLocks noGrp="1"/>
          </p:cNvSpPr>
          <p:nvPr>
            <p:ph idx="1"/>
          </p:nvPr>
        </p:nvSpPr>
        <p:spPr/>
        <p:txBody>
          <a:bodyPr/>
          <a:lstStyle/>
          <a:p>
            <a:r>
              <a:rPr lang="en-US" dirty="0"/>
              <a:t>This type of SLA is tailored to a specific customer or group of customers and outlines all the services agreed upon by the provider and the customer</a:t>
            </a:r>
          </a:p>
          <a:p>
            <a:endParaRPr lang="en-US" dirty="0"/>
          </a:p>
          <a:p>
            <a:r>
              <a:rPr lang="en-US" dirty="0"/>
              <a:t>Example: A managed IT service provider commits to resolving high-priority issues for a corporate client </a:t>
            </a:r>
            <a:r>
              <a:rPr lang="en-US" b="1" dirty="0"/>
              <a:t>within 4 hours</a:t>
            </a:r>
            <a:r>
              <a:rPr lang="en-US" dirty="0"/>
              <a:t>.</a:t>
            </a:r>
          </a:p>
        </p:txBody>
      </p:sp>
    </p:spTree>
    <p:extLst>
      <p:ext uri="{BB962C8B-B14F-4D97-AF65-F5344CB8AC3E}">
        <p14:creationId xmlns:p14="http://schemas.microsoft.com/office/powerpoint/2010/main" val="3470133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rPr>
              <a:t>Multilevel Service Level Agreement</a:t>
            </a:r>
          </a:p>
        </p:txBody>
      </p:sp>
      <p:sp>
        <p:nvSpPr>
          <p:cNvPr id="3" name="Content Placeholder 2"/>
          <p:cNvSpPr>
            <a:spLocks noGrp="1"/>
          </p:cNvSpPr>
          <p:nvPr>
            <p:ph idx="1"/>
          </p:nvPr>
        </p:nvSpPr>
        <p:spPr/>
        <p:txBody>
          <a:bodyPr>
            <a:normAutofit/>
          </a:bodyPr>
          <a:lstStyle/>
          <a:p>
            <a:r>
              <a:rPr lang="en-US" dirty="0"/>
              <a:t>A hierarchical SLA structure that applies at different levels within an organization. </a:t>
            </a:r>
          </a:p>
          <a:p>
            <a:r>
              <a:rPr lang="en-US" dirty="0"/>
              <a:t>This type of SLA is divided into levels, often addressing multiple aspects such as corporate, customer, and service levels to cater to various needs within an organization.</a:t>
            </a:r>
          </a:p>
        </p:txBody>
      </p:sp>
    </p:spTree>
    <p:extLst>
      <p:ext uri="{BB962C8B-B14F-4D97-AF65-F5344CB8AC3E}">
        <p14:creationId xmlns:p14="http://schemas.microsoft.com/office/powerpoint/2010/main" val="360382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SLA Example</a:t>
            </a:r>
          </a:p>
        </p:txBody>
      </p:sp>
      <p:sp>
        <p:nvSpPr>
          <p:cNvPr id="3" name="Content Placeholder 2"/>
          <p:cNvSpPr>
            <a:spLocks noGrp="1"/>
          </p:cNvSpPr>
          <p:nvPr>
            <p:ph idx="1"/>
          </p:nvPr>
        </p:nvSpPr>
        <p:spPr/>
        <p:txBody>
          <a:bodyPr>
            <a:normAutofit fontScale="92500" lnSpcReduction="10000"/>
          </a:bodyPr>
          <a:lstStyle/>
          <a:p>
            <a:r>
              <a:rPr lang="en-US" dirty="0"/>
              <a:t>Say we are a beverages provider, with tea, coffee, and juices in our service portfolio</a:t>
            </a:r>
          </a:p>
          <a:p>
            <a:r>
              <a:rPr lang="en-US" dirty="0"/>
              <a:t>If customer A wants the tea to be provided every morning and evening, coffee before and after lunch, and juices during lunch hours, that’s the customer-specific SLA we have signed with that particular customer, and that’s how we price the offering</a:t>
            </a:r>
          </a:p>
          <a:p>
            <a:r>
              <a:rPr lang="en-US" b="1" dirty="0"/>
              <a:t>Customer-Based SLA</a:t>
            </a:r>
            <a:r>
              <a:rPr lang="en-US" dirty="0"/>
              <a:t> is tailored and personalized, often at a premium price.</a:t>
            </a:r>
          </a:p>
        </p:txBody>
      </p:sp>
    </p:spTree>
    <p:extLst>
      <p:ext uri="{BB962C8B-B14F-4D97-AF65-F5344CB8AC3E}">
        <p14:creationId xmlns:p14="http://schemas.microsoft.com/office/powerpoint/2010/main" val="3105611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SLA Example …</a:t>
            </a:r>
          </a:p>
        </p:txBody>
      </p:sp>
      <p:sp>
        <p:nvSpPr>
          <p:cNvPr id="3" name="Content Placeholder 2"/>
          <p:cNvSpPr>
            <a:spLocks noGrp="1"/>
          </p:cNvSpPr>
          <p:nvPr>
            <p:ph idx="1"/>
          </p:nvPr>
        </p:nvSpPr>
        <p:spPr/>
        <p:txBody>
          <a:bodyPr>
            <a:normAutofit/>
          </a:bodyPr>
          <a:lstStyle/>
          <a:p>
            <a:r>
              <a:rPr lang="en-US" dirty="0"/>
              <a:t>On the other hand, if we also have a stand where we offer juices throughout the day but at fixed prices and where customers B and C can source their needs, this is a service-based SLA</a:t>
            </a:r>
          </a:p>
          <a:p>
            <a:r>
              <a:rPr lang="en-US" b="1" dirty="0"/>
              <a:t>Service-Based SLA</a:t>
            </a:r>
            <a:r>
              <a:rPr lang="en-US" dirty="0"/>
              <a:t> offers a standardized service with the same terms for all customers.</a:t>
            </a:r>
          </a:p>
        </p:txBody>
      </p:sp>
    </p:spTree>
    <p:extLst>
      <p:ext uri="{BB962C8B-B14F-4D97-AF65-F5344CB8AC3E}">
        <p14:creationId xmlns:p14="http://schemas.microsoft.com/office/powerpoint/2010/main" val="2500289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rPr>
              <a:t>5 Things to Look For in a Cloud Service Level Agreement</a:t>
            </a:r>
          </a:p>
        </p:txBody>
      </p:sp>
      <p:sp>
        <p:nvSpPr>
          <p:cNvPr id="3" name="Content Placeholder 2"/>
          <p:cNvSpPr>
            <a:spLocks noGrp="1"/>
          </p:cNvSpPr>
          <p:nvPr>
            <p:ph idx="1"/>
          </p:nvPr>
        </p:nvSpPr>
        <p:spPr/>
        <p:txBody>
          <a:bodyPr/>
          <a:lstStyle/>
          <a:p>
            <a:r>
              <a:rPr lang="en-US" dirty="0"/>
              <a:t>Availability</a:t>
            </a:r>
          </a:p>
          <a:p>
            <a:r>
              <a:rPr lang="en-US" dirty="0"/>
              <a:t>Data ownership</a:t>
            </a:r>
          </a:p>
          <a:p>
            <a:r>
              <a:rPr lang="en-US" dirty="0"/>
              <a:t>Cloud hardware and software</a:t>
            </a:r>
          </a:p>
          <a:p>
            <a:r>
              <a:rPr lang="en-US" dirty="0"/>
              <a:t>Disaster recovery and backup</a:t>
            </a:r>
          </a:p>
          <a:p>
            <a:r>
              <a:rPr lang="en-US" dirty="0"/>
              <a:t>Customer responsibilities</a:t>
            </a:r>
          </a:p>
          <a:p>
            <a:endParaRPr lang="en-US" dirty="0"/>
          </a:p>
        </p:txBody>
      </p:sp>
    </p:spTree>
    <p:extLst>
      <p:ext uri="{BB962C8B-B14F-4D97-AF65-F5344CB8AC3E}">
        <p14:creationId xmlns:p14="http://schemas.microsoft.com/office/powerpoint/2010/main" val="3004209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Availability</a:t>
            </a:r>
          </a:p>
        </p:txBody>
      </p:sp>
      <p:sp>
        <p:nvSpPr>
          <p:cNvPr id="3" name="Content Placeholder 2"/>
          <p:cNvSpPr>
            <a:spLocks noGrp="1"/>
          </p:cNvSpPr>
          <p:nvPr>
            <p:ph idx="1"/>
          </p:nvPr>
        </p:nvSpPr>
        <p:spPr/>
        <p:txBody>
          <a:bodyPr>
            <a:normAutofit fontScale="92500" lnSpcReduction="20000"/>
          </a:bodyPr>
          <a:lstStyle/>
          <a:p>
            <a:r>
              <a:rPr lang="en-US" dirty="0"/>
              <a:t>The biggest quality-of-service (</a:t>
            </a:r>
            <a:r>
              <a:rPr lang="en-US" dirty="0" err="1"/>
              <a:t>QoS</a:t>
            </a:r>
            <a:r>
              <a:rPr lang="en-US" dirty="0"/>
              <a:t>) concept that should be covered in any Cloud SLA is the provider’s promised availability</a:t>
            </a:r>
          </a:p>
          <a:p>
            <a:r>
              <a:rPr lang="en-US" dirty="0"/>
              <a:t>Providers might break down availability depending on time frame</a:t>
            </a:r>
          </a:p>
          <a:p>
            <a:r>
              <a:rPr lang="en-US" dirty="0"/>
              <a:t> – for example, they might promise 99.99% availability during business hours</a:t>
            </a:r>
          </a:p>
          <a:p>
            <a:r>
              <a:rPr lang="en-US" dirty="0"/>
              <a:t>These terms should also include the provider’s plan for unexpected downtime, including alerting its users and providing updates on maintenance and service repairs.</a:t>
            </a:r>
          </a:p>
        </p:txBody>
      </p:sp>
    </p:spTree>
    <p:extLst>
      <p:ext uri="{BB962C8B-B14F-4D97-AF65-F5344CB8AC3E}">
        <p14:creationId xmlns:p14="http://schemas.microsoft.com/office/powerpoint/2010/main" val="2409652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Data ownership</a:t>
            </a:r>
          </a:p>
        </p:txBody>
      </p:sp>
      <p:sp>
        <p:nvSpPr>
          <p:cNvPr id="3" name="Content Placeholder 2"/>
          <p:cNvSpPr>
            <a:spLocks noGrp="1"/>
          </p:cNvSpPr>
          <p:nvPr>
            <p:ph idx="1"/>
          </p:nvPr>
        </p:nvSpPr>
        <p:spPr/>
        <p:txBody>
          <a:bodyPr>
            <a:normAutofit fontScale="85000" lnSpcReduction="10000"/>
          </a:bodyPr>
          <a:lstStyle/>
          <a:p>
            <a:r>
              <a:rPr lang="en-US" dirty="0"/>
              <a:t>Who owns your data in the cloud? </a:t>
            </a:r>
          </a:p>
          <a:p>
            <a:r>
              <a:rPr lang="en-US" dirty="0"/>
              <a:t>That question prevents many enterprises from making the jump to the cloud, especially when they consider sensitive data</a:t>
            </a:r>
          </a:p>
          <a:p>
            <a:r>
              <a:rPr lang="en-US" dirty="0"/>
              <a:t>An SLA should specifically outline its data ownership policies so that everything is transparent and clear</a:t>
            </a:r>
          </a:p>
          <a:p>
            <a:r>
              <a:rPr lang="en-US" dirty="0"/>
              <a:t>Ideally, an SLA should state that all ownership rights stick with the user</a:t>
            </a:r>
          </a:p>
          <a:p>
            <a:r>
              <a:rPr lang="en-US" dirty="0"/>
              <a:t>However, if the provider doesn’t explicitly state its data ownership policies in the SLA, you can’t guarantee the safety of your information.</a:t>
            </a:r>
          </a:p>
        </p:txBody>
      </p:sp>
    </p:spTree>
    <p:extLst>
      <p:ext uri="{BB962C8B-B14F-4D97-AF65-F5344CB8AC3E}">
        <p14:creationId xmlns:p14="http://schemas.microsoft.com/office/powerpoint/2010/main" val="45502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Cloud hardware and software</a:t>
            </a:r>
          </a:p>
        </p:txBody>
      </p:sp>
      <p:sp>
        <p:nvSpPr>
          <p:cNvPr id="3" name="Content Placeholder 2"/>
          <p:cNvSpPr>
            <a:spLocks noGrp="1"/>
          </p:cNvSpPr>
          <p:nvPr>
            <p:ph idx="1"/>
          </p:nvPr>
        </p:nvSpPr>
        <p:spPr/>
        <p:txBody>
          <a:bodyPr>
            <a:normAutofit fontScale="92500" lnSpcReduction="10000"/>
          </a:bodyPr>
          <a:lstStyle/>
          <a:p>
            <a:r>
              <a:rPr lang="en-US" dirty="0"/>
              <a:t>Your cloud provider requires the use of hardware and (potentially) software to operate its services</a:t>
            </a:r>
          </a:p>
          <a:p>
            <a:r>
              <a:rPr lang="en-US" dirty="0"/>
              <a:t>The provider should outline the hardware that the cloud services rely on, including servers and other devices</a:t>
            </a:r>
          </a:p>
          <a:p>
            <a:r>
              <a:rPr lang="en-US" dirty="0"/>
              <a:t>Knowing your cloud’s equipment and software specifications will help you understand the specifics behind your cloud environment’s construction and what you’ll need to educate your staff on</a:t>
            </a:r>
          </a:p>
        </p:txBody>
      </p:sp>
    </p:spTree>
    <p:extLst>
      <p:ext uri="{BB962C8B-B14F-4D97-AF65-F5344CB8AC3E}">
        <p14:creationId xmlns:p14="http://schemas.microsoft.com/office/powerpoint/2010/main" val="2394539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Disaster recovery and backup</a:t>
            </a:r>
          </a:p>
        </p:txBody>
      </p:sp>
      <p:sp>
        <p:nvSpPr>
          <p:cNvPr id="3" name="Content Placeholder 2"/>
          <p:cNvSpPr>
            <a:spLocks noGrp="1"/>
          </p:cNvSpPr>
          <p:nvPr>
            <p:ph idx="1"/>
          </p:nvPr>
        </p:nvSpPr>
        <p:spPr/>
        <p:txBody>
          <a:bodyPr>
            <a:normAutofit fontScale="85000" lnSpcReduction="20000"/>
          </a:bodyPr>
          <a:lstStyle/>
          <a:p>
            <a:r>
              <a:rPr lang="en-US" dirty="0"/>
              <a:t>In the event of a disaster, your cloud provider should have a plan in place to prevent total loss of your data</a:t>
            </a:r>
          </a:p>
          <a:p>
            <a:r>
              <a:rPr lang="en-US" dirty="0"/>
              <a:t>Cloud providers should have a section of the SLA that describes their disaster recovery and backup solutions in detail</a:t>
            </a:r>
          </a:p>
          <a:p>
            <a:r>
              <a:rPr lang="en-US" dirty="0"/>
              <a:t>Depending on the provider, they may provide automatic backups and snapshots of your data</a:t>
            </a:r>
          </a:p>
          <a:p>
            <a:r>
              <a:rPr lang="en-US" dirty="0"/>
              <a:t>If the user is required to set up backup and recovery systems, the SLA should outline that</a:t>
            </a:r>
          </a:p>
          <a:p>
            <a:r>
              <a:rPr lang="en-US" dirty="0"/>
              <a:t>It may not specifically state how to activate them, but you should be aware if you need to activate them or not.</a:t>
            </a:r>
          </a:p>
        </p:txBody>
      </p:sp>
    </p:spTree>
    <p:extLst>
      <p:ext uri="{BB962C8B-B14F-4D97-AF65-F5344CB8AC3E}">
        <p14:creationId xmlns:p14="http://schemas.microsoft.com/office/powerpoint/2010/main" val="308722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Customer responsibilities</a:t>
            </a:r>
          </a:p>
        </p:txBody>
      </p:sp>
      <p:sp>
        <p:nvSpPr>
          <p:cNvPr id="3" name="Content Placeholder 2"/>
          <p:cNvSpPr>
            <a:spLocks noGrp="1"/>
          </p:cNvSpPr>
          <p:nvPr>
            <p:ph idx="1"/>
          </p:nvPr>
        </p:nvSpPr>
        <p:spPr/>
        <p:txBody>
          <a:bodyPr>
            <a:normAutofit lnSpcReduction="10000"/>
          </a:bodyPr>
          <a:lstStyle/>
          <a:p>
            <a:r>
              <a:rPr lang="en-US" dirty="0"/>
              <a:t>The SLA is a contract that outlines responsibilities that both the provider and customer agree to</a:t>
            </a:r>
          </a:p>
          <a:p>
            <a:r>
              <a:rPr lang="en-US" dirty="0"/>
              <a:t>Your cloud provider needs to inform you of what you’re liable for when you enter the agreement</a:t>
            </a:r>
          </a:p>
          <a:p>
            <a:r>
              <a:rPr lang="en-US" dirty="0"/>
              <a:t>Make sure you consider over the entirety of the SLA to know what your provider will manage and what you need to as a customer</a:t>
            </a:r>
          </a:p>
        </p:txBody>
      </p:sp>
    </p:spTree>
    <p:extLst>
      <p:ext uri="{BB962C8B-B14F-4D97-AF65-F5344CB8AC3E}">
        <p14:creationId xmlns:p14="http://schemas.microsoft.com/office/powerpoint/2010/main" val="2220970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rPr>
              <a:t>How often should we revise our SLAs?</a:t>
            </a:r>
          </a:p>
        </p:txBody>
      </p:sp>
      <p:sp>
        <p:nvSpPr>
          <p:cNvPr id="3" name="Content Placeholder 2"/>
          <p:cNvSpPr>
            <a:spLocks noGrp="1"/>
          </p:cNvSpPr>
          <p:nvPr>
            <p:ph idx="1"/>
          </p:nvPr>
        </p:nvSpPr>
        <p:spPr>
          <a:xfrm>
            <a:off x="457200" y="1600200"/>
            <a:ext cx="8229600" cy="4953000"/>
          </a:xfrm>
        </p:spPr>
        <p:txBody>
          <a:bodyPr>
            <a:normAutofit fontScale="85000" lnSpcReduction="10000"/>
          </a:bodyPr>
          <a:lstStyle/>
          <a:p>
            <a:r>
              <a:rPr lang="en-US" dirty="0"/>
              <a:t>Most SLAs are negotiated to meet the customer's current needs, but many businesses change dramatically in size over time</a:t>
            </a:r>
          </a:p>
          <a:p>
            <a:r>
              <a:rPr lang="en-US" dirty="0"/>
              <a:t>A solid cloud service-level agreement outlines intervals where the contract is reviewed and potentially adjusted to meet an organization's changing needs.</a:t>
            </a:r>
          </a:p>
          <a:p>
            <a:r>
              <a:rPr lang="en-US" dirty="0"/>
              <a:t>Some vendors build in notification workflows that trigger when a cloud service-level agreement is close to being breached, so new negotiations can be initiated based on the changes in scale. This can cover uptime availability levels or usage that exceeds criteria and might warrant an upgrade to a new service tier</a:t>
            </a:r>
          </a:p>
        </p:txBody>
      </p:sp>
    </p:spTree>
    <p:extLst>
      <p:ext uri="{BB962C8B-B14F-4D97-AF65-F5344CB8AC3E}">
        <p14:creationId xmlns:p14="http://schemas.microsoft.com/office/powerpoint/2010/main" val="2714356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Cloud SLA examples</a:t>
            </a:r>
          </a:p>
        </p:txBody>
      </p:sp>
      <p:sp>
        <p:nvSpPr>
          <p:cNvPr id="3" name="Content Placeholder 2"/>
          <p:cNvSpPr>
            <a:spLocks noGrp="1"/>
          </p:cNvSpPr>
          <p:nvPr>
            <p:ph idx="1"/>
          </p:nvPr>
        </p:nvSpPr>
        <p:spPr/>
        <p:txBody>
          <a:bodyPr/>
          <a:lstStyle/>
          <a:p>
            <a:pPr marL="0" indent="0">
              <a:buNone/>
            </a:pPr>
            <a:r>
              <a:rPr lang="en-US" dirty="0"/>
              <a:t>SLA summary for AWS</a:t>
            </a:r>
          </a:p>
          <a:p>
            <a:pPr marL="0" indent="0">
              <a:buNone/>
            </a:pPr>
            <a:r>
              <a:rPr lang="en-US" dirty="0">
                <a:hlinkClick r:id="rId2"/>
              </a:rPr>
              <a:t>https://aws.amazon.com/legal/service-level-agreements/</a:t>
            </a:r>
            <a:endParaRPr lang="en-US" dirty="0"/>
          </a:p>
          <a:p>
            <a:pPr marL="0" indent="0">
              <a:buNone/>
            </a:pPr>
            <a:r>
              <a:rPr lang="en-US" dirty="0"/>
              <a:t>SLA summary for Azure services</a:t>
            </a:r>
          </a:p>
          <a:p>
            <a:pPr marL="0" indent="0">
              <a:buNone/>
            </a:pPr>
            <a:r>
              <a:rPr lang="en-US" dirty="0">
                <a:hlinkClick r:id="rId3"/>
              </a:rPr>
              <a:t>https://azure.microsoft.com/en-us/support/legal/sla/summary/</a:t>
            </a:r>
            <a:endParaRPr lang="en-US" dirty="0"/>
          </a:p>
          <a:p>
            <a:pPr marL="0" indent="0">
              <a:buNone/>
            </a:pPr>
            <a:r>
              <a:rPr lang="en-US" dirty="0"/>
              <a:t>SLA summary for Google Cloud</a:t>
            </a:r>
          </a:p>
          <a:p>
            <a:pPr marL="0" indent="0">
              <a:buNone/>
            </a:pPr>
            <a:r>
              <a:rPr lang="en-US" dirty="0">
                <a:hlinkClick r:id="rId4"/>
              </a:rPr>
              <a:t>https://cloud.google.com/terms/sla</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1659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5E9CA-83B6-F8F9-DB21-C1FD497CAF97}"/>
              </a:ext>
            </a:extLst>
          </p:cNvPr>
          <p:cNvSpPr>
            <a:spLocks noGrp="1"/>
          </p:cNvSpPr>
          <p:nvPr>
            <p:ph type="title"/>
          </p:nvPr>
        </p:nvSpPr>
        <p:spPr/>
        <p:txBody>
          <a:bodyPr/>
          <a:lstStyle/>
          <a:p>
            <a:r>
              <a:rPr lang="en-US" b="1" dirty="0">
                <a:solidFill>
                  <a:schemeClr val="accent1"/>
                </a:solidFill>
              </a:rPr>
              <a:t>Few questions to ponder </a:t>
            </a:r>
            <a:endParaRPr lang="en-PK" b="1" dirty="0">
              <a:solidFill>
                <a:schemeClr val="accent1"/>
              </a:solidFill>
            </a:endParaRPr>
          </a:p>
        </p:txBody>
      </p:sp>
      <p:sp>
        <p:nvSpPr>
          <p:cNvPr id="4" name="Rectangle 1">
            <a:extLst>
              <a:ext uri="{FF2B5EF4-FFF2-40B4-BE49-F238E27FC236}">
                <a16:creationId xmlns:a16="http://schemas.microsoft.com/office/drawing/2014/main" id="{10946E53-C1F5-16A5-0704-0FA6CF05E304}"/>
              </a:ext>
            </a:extLst>
          </p:cNvPr>
          <p:cNvSpPr>
            <a:spLocks noGrp="1" noChangeArrowheads="1"/>
          </p:cNvSpPr>
          <p:nvPr>
            <p:ph idx="1"/>
          </p:nvPr>
        </p:nvSpPr>
        <p:spPr bwMode="auto">
          <a:xfrm>
            <a:off x="457200" y="1601023"/>
            <a:ext cx="8458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How does an SLI help measure system performance?</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How do </a:t>
            </a:r>
            <a:r>
              <a:rPr kumimoji="0" lang="en-PK" altLang="en-PK" sz="2400" i="0" u="none" strike="noStrike" cap="none" normalizeH="0" baseline="0" dirty="0" err="1">
                <a:ln>
                  <a:noFill/>
                </a:ln>
                <a:solidFill>
                  <a:schemeClr val="tx1"/>
                </a:solidFill>
                <a:effectLst/>
                <a:latin typeface="Arial" panose="020B0604020202020204" pitchFamily="34" charset="0"/>
              </a:rPr>
              <a:t>SLIs</a:t>
            </a:r>
            <a:r>
              <a:rPr kumimoji="0" lang="en-PK" altLang="en-PK" sz="2400" i="0" u="none" strike="noStrike" cap="none" normalizeH="0" baseline="0" dirty="0">
                <a:ln>
                  <a:noFill/>
                </a:ln>
                <a:solidFill>
                  <a:schemeClr val="tx1"/>
                </a:solidFill>
                <a:effectLst/>
                <a:latin typeface="Arial" panose="020B0604020202020204" pitchFamily="34" charset="0"/>
              </a:rPr>
              <a:t> relate to </a:t>
            </a:r>
            <a:r>
              <a:rPr kumimoji="0" lang="en-PK" altLang="en-PK" sz="2400" i="0" u="none" strike="noStrike" cap="none" normalizeH="0" baseline="0" dirty="0" err="1">
                <a:ln>
                  <a:noFill/>
                </a:ln>
                <a:solidFill>
                  <a:schemeClr val="tx1"/>
                </a:solidFill>
                <a:effectLst/>
                <a:latin typeface="Arial" panose="020B0604020202020204" pitchFamily="34" charset="0"/>
              </a:rPr>
              <a:t>SLOs</a:t>
            </a:r>
            <a:r>
              <a:rPr kumimoji="0" lang="en-PK" altLang="en-PK" sz="2400" i="0" u="none" strike="noStrike" cap="none" normalizeH="0" baseline="0" dirty="0">
                <a:ln>
                  <a:noFill/>
                </a:ln>
                <a:solidFill>
                  <a:schemeClr val="tx1"/>
                </a:solidFill>
                <a:effectLst/>
                <a:latin typeface="Arial" panose="020B0604020202020204" pitchFamily="34" charset="0"/>
              </a:rPr>
              <a:t>?</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How does an SLA differ from an SLO?</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What happens if an SLA is breached?</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Can an SLO exist without an SLA? Why or why not?</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What are some common </a:t>
            </a:r>
            <a:r>
              <a:rPr kumimoji="0" lang="en-PK" altLang="en-PK" sz="2400" i="0" u="none" strike="noStrike" cap="none" normalizeH="0" baseline="0" dirty="0" err="1">
                <a:ln>
                  <a:noFill/>
                </a:ln>
                <a:solidFill>
                  <a:schemeClr val="tx1"/>
                </a:solidFill>
                <a:effectLst/>
                <a:latin typeface="Arial" panose="020B0604020202020204" pitchFamily="34" charset="0"/>
              </a:rPr>
              <a:t>SLIs</a:t>
            </a:r>
            <a:r>
              <a:rPr kumimoji="0" lang="en-PK" altLang="en-PK" sz="2400" i="0" u="none" strike="noStrike" cap="none" normalizeH="0" baseline="0" dirty="0">
                <a:ln>
                  <a:noFill/>
                </a:ln>
                <a:solidFill>
                  <a:schemeClr val="tx1"/>
                </a:solidFill>
                <a:effectLst/>
                <a:latin typeface="Arial" panose="020B0604020202020204" pitchFamily="34" charset="0"/>
              </a:rPr>
              <a:t> in a web service?</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How do you calculate an SLI for system uptime?</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Why is it important to set realistic </a:t>
            </a:r>
            <a:r>
              <a:rPr kumimoji="0" lang="en-PK" altLang="en-PK" sz="2400" i="0" u="none" strike="noStrike" cap="none" normalizeH="0" baseline="0" dirty="0" err="1">
                <a:ln>
                  <a:noFill/>
                </a:ln>
                <a:solidFill>
                  <a:schemeClr val="tx1"/>
                </a:solidFill>
                <a:effectLst/>
                <a:latin typeface="Arial" panose="020B0604020202020204" pitchFamily="34" charset="0"/>
              </a:rPr>
              <a:t>SLOs</a:t>
            </a:r>
            <a:r>
              <a:rPr kumimoji="0" lang="en-PK" altLang="en-PK" sz="2400" i="0" u="none" strike="noStrike" cap="none" normalizeH="0" baseline="0" dirty="0">
                <a:ln>
                  <a:noFill/>
                </a:ln>
                <a:solidFill>
                  <a:schemeClr val="tx1"/>
                </a:solidFill>
                <a:effectLst/>
                <a:latin typeface="Arial" panose="020B0604020202020204" pitchFamily="34" charset="0"/>
              </a:rPr>
              <a:t>?</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Who defines the terms of an SLA?</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What role do </a:t>
            </a:r>
            <a:r>
              <a:rPr kumimoji="0" lang="en-PK" altLang="en-PK" sz="2400" i="0" u="none" strike="noStrike" cap="none" normalizeH="0" baseline="0" dirty="0" err="1">
                <a:ln>
                  <a:noFill/>
                </a:ln>
                <a:solidFill>
                  <a:schemeClr val="tx1"/>
                </a:solidFill>
                <a:effectLst/>
                <a:latin typeface="Arial" panose="020B0604020202020204" pitchFamily="34" charset="0"/>
              </a:rPr>
              <a:t>SLIs</a:t>
            </a:r>
            <a:r>
              <a:rPr kumimoji="0" lang="en-PK" altLang="en-PK" sz="2400" i="0" u="none" strike="noStrike" cap="none" normalizeH="0" baseline="0" dirty="0">
                <a:ln>
                  <a:noFill/>
                </a:ln>
                <a:solidFill>
                  <a:schemeClr val="tx1"/>
                </a:solidFill>
                <a:effectLst/>
                <a:latin typeface="Arial" panose="020B0604020202020204" pitchFamily="34" charset="0"/>
              </a:rPr>
              <a:t> play in monitoring system health?</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How can SLAs impact customer satisfaction?</a:t>
            </a:r>
          </a:p>
          <a:p>
            <a:pPr eaLnBrk="0" fontAlgn="base" hangingPunct="0">
              <a:spcBef>
                <a:spcPct val="0"/>
              </a:spcBef>
              <a:spcAft>
                <a:spcPct val="0"/>
              </a:spcAft>
            </a:pPr>
            <a:r>
              <a:rPr kumimoji="0" lang="en-PK" altLang="en-PK" sz="2400" i="0" u="none" strike="noStrike" cap="none" normalizeH="0" baseline="0" dirty="0">
                <a:ln>
                  <a:noFill/>
                </a:ln>
                <a:solidFill>
                  <a:schemeClr val="tx1"/>
                </a:solidFill>
                <a:effectLst/>
                <a:latin typeface="Arial" panose="020B0604020202020204" pitchFamily="34" charset="0"/>
              </a:rPr>
              <a:t>What tools can be used to track </a:t>
            </a:r>
            <a:r>
              <a:rPr kumimoji="0" lang="en-PK" altLang="en-PK" sz="2400" i="0" u="none" strike="noStrike" cap="none" normalizeH="0" baseline="0" dirty="0" err="1">
                <a:ln>
                  <a:noFill/>
                </a:ln>
                <a:solidFill>
                  <a:schemeClr val="tx1"/>
                </a:solidFill>
                <a:effectLst/>
                <a:latin typeface="Arial" panose="020B0604020202020204" pitchFamily="34" charset="0"/>
              </a:rPr>
              <a:t>SLIs</a:t>
            </a:r>
            <a:r>
              <a:rPr kumimoji="0" lang="en-PK" altLang="en-PK" sz="240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976555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03462-0990-FAD0-E60B-D07C15B9A789}"/>
              </a:ext>
            </a:extLst>
          </p:cNvPr>
          <p:cNvSpPr>
            <a:spLocks noGrp="1"/>
          </p:cNvSpPr>
          <p:nvPr>
            <p:ph type="title"/>
          </p:nvPr>
        </p:nvSpPr>
        <p:spPr/>
        <p:txBody>
          <a:bodyPr>
            <a:normAutofit fontScale="90000"/>
          </a:bodyPr>
          <a:lstStyle/>
          <a:p>
            <a:r>
              <a:rPr lang="en-US" b="1" dirty="0">
                <a:solidFill>
                  <a:schemeClr val="accent1"/>
                </a:solidFill>
              </a:rPr>
              <a:t>Enabling Desktop , RDP on Linux LTS Server</a:t>
            </a:r>
            <a:endParaRPr lang="en-PK" b="1" dirty="0">
              <a:solidFill>
                <a:schemeClr val="accent1"/>
              </a:solidFill>
            </a:endParaRPr>
          </a:p>
        </p:txBody>
      </p:sp>
      <p:sp>
        <p:nvSpPr>
          <p:cNvPr id="3" name="Content Placeholder 2">
            <a:extLst>
              <a:ext uri="{FF2B5EF4-FFF2-40B4-BE49-F238E27FC236}">
                <a16:creationId xmlns:a16="http://schemas.microsoft.com/office/drawing/2014/main" id="{7611C639-2904-6BCD-DC4F-AFE6073014B2}"/>
              </a:ext>
            </a:extLst>
          </p:cNvPr>
          <p:cNvSpPr>
            <a:spLocks noGrp="1"/>
          </p:cNvSpPr>
          <p:nvPr>
            <p:ph idx="1"/>
          </p:nvPr>
        </p:nvSpPr>
        <p:spPr/>
        <p:txBody>
          <a:bodyPr>
            <a:normAutofit fontScale="85000" lnSpcReduction="20000"/>
          </a:bodyPr>
          <a:lstStyle/>
          <a:p>
            <a:r>
              <a:rPr lang="en-US" dirty="0">
                <a:solidFill>
                  <a:srgbClr val="FF0000"/>
                </a:solidFill>
                <a:latin typeface="Roboto" panose="02000000000000000000" pitchFamily="2" charset="0"/>
              </a:rPr>
              <a:t>First </a:t>
            </a:r>
            <a:r>
              <a:rPr lang="en-US" b="0" i="0" dirty="0">
                <a:solidFill>
                  <a:srgbClr val="FF0000"/>
                </a:solidFill>
                <a:effectLst/>
                <a:latin typeface="Roboto" panose="02000000000000000000" pitchFamily="2" charset="0"/>
              </a:rPr>
              <a:t>update system </a:t>
            </a:r>
          </a:p>
          <a:p>
            <a:pPr marL="0" indent="0">
              <a:buNone/>
            </a:pPr>
            <a:r>
              <a:rPr lang="en-US" b="0" i="1" dirty="0" err="1">
                <a:solidFill>
                  <a:srgbClr val="030303"/>
                </a:solidFill>
                <a:effectLst/>
                <a:latin typeface="MV Boli" panose="02000500030200090000" pitchFamily="2" charset="0"/>
                <a:ea typeface="NSimSun" panose="02010609030101010101" pitchFamily="49" charset="-122"/>
                <a:cs typeface="MV Boli" panose="02000500030200090000" pitchFamily="2" charset="0"/>
              </a:rPr>
              <a:t>sudo</a:t>
            </a:r>
            <a:r>
              <a:rPr lang="en-US" b="0" i="1" dirty="0">
                <a:solidFill>
                  <a:srgbClr val="030303"/>
                </a:solidFill>
                <a:effectLst/>
                <a:latin typeface="MV Boli" panose="02000500030200090000" pitchFamily="2" charset="0"/>
                <a:ea typeface="NSimSun" panose="02010609030101010101" pitchFamily="49" charset="-122"/>
                <a:cs typeface="MV Boli" panose="02000500030200090000" pitchFamily="2" charset="0"/>
              </a:rPr>
              <a:t> apt-get update </a:t>
            </a:r>
          </a:p>
          <a:p>
            <a:r>
              <a:rPr lang="en-US" b="0" i="0" dirty="0">
                <a:solidFill>
                  <a:srgbClr val="FF0000"/>
                </a:solidFill>
                <a:effectLst/>
                <a:latin typeface="Roboto" panose="02000000000000000000" pitchFamily="2" charset="0"/>
              </a:rPr>
              <a:t>Then install UI XFCE4 </a:t>
            </a:r>
          </a:p>
          <a:p>
            <a:pPr marL="0" indent="0">
              <a:buNone/>
            </a:pPr>
            <a:r>
              <a:rPr lang="en-US" b="0" i="0" dirty="0" err="1">
                <a:solidFill>
                  <a:srgbClr val="030303"/>
                </a:solidFill>
                <a:effectLst/>
                <a:latin typeface="MV Boli" panose="02000500030200090000" pitchFamily="2" charset="0"/>
                <a:cs typeface="MV Boli" panose="02000500030200090000" pitchFamily="2" charset="0"/>
              </a:rPr>
              <a:t>sudo</a:t>
            </a:r>
            <a:r>
              <a:rPr lang="en-US" b="0" i="0" dirty="0">
                <a:solidFill>
                  <a:srgbClr val="030303"/>
                </a:solidFill>
                <a:effectLst/>
                <a:latin typeface="MV Boli" panose="02000500030200090000" pitchFamily="2" charset="0"/>
                <a:cs typeface="MV Boli" panose="02000500030200090000" pitchFamily="2" charset="0"/>
              </a:rPr>
              <a:t> apt-get install xfce4 </a:t>
            </a:r>
          </a:p>
          <a:p>
            <a:r>
              <a:rPr lang="en-US" b="0" i="0" dirty="0">
                <a:solidFill>
                  <a:srgbClr val="FF0000"/>
                </a:solidFill>
                <a:effectLst/>
                <a:latin typeface="Roboto" panose="02000000000000000000" pitchFamily="2" charset="0"/>
              </a:rPr>
              <a:t>Afterwards install XRDP - remote desktop </a:t>
            </a:r>
          </a:p>
          <a:p>
            <a:pPr marL="0" indent="0">
              <a:buNone/>
            </a:pPr>
            <a:r>
              <a:rPr lang="en-US" b="0" i="0" dirty="0" err="1">
                <a:solidFill>
                  <a:srgbClr val="030303"/>
                </a:solidFill>
                <a:effectLst/>
                <a:latin typeface="MV Boli" panose="02000500030200090000" pitchFamily="2" charset="0"/>
                <a:cs typeface="MV Boli" panose="02000500030200090000" pitchFamily="2" charset="0"/>
              </a:rPr>
              <a:t>sudo</a:t>
            </a:r>
            <a:r>
              <a:rPr lang="en-US" b="0" i="0" dirty="0">
                <a:solidFill>
                  <a:srgbClr val="030303"/>
                </a:solidFill>
                <a:effectLst/>
                <a:latin typeface="MV Boli" panose="02000500030200090000" pitchFamily="2" charset="0"/>
                <a:cs typeface="MV Boli" panose="02000500030200090000" pitchFamily="2" charset="0"/>
              </a:rPr>
              <a:t> apt-get install </a:t>
            </a:r>
            <a:r>
              <a:rPr lang="en-US" b="0" i="0" dirty="0" err="1">
                <a:solidFill>
                  <a:srgbClr val="030303"/>
                </a:solidFill>
                <a:effectLst/>
                <a:latin typeface="MV Boli" panose="02000500030200090000" pitchFamily="2" charset="0"/>
                <a:cs typeface="MV Boli" panose="02000500030200090000" pitchFamily="2" charset="0"/>
              </a:rPr>
              <a:t>xrdp</a:t>
            </a:r>
            <a:r>
              <a:rPr lang="en-US" b="0" i="0" dirty="0">
                <a:solidFill>
                  <a:srgbClr val="030303"/>
                </a:solidFill>
                <a:effectLst/>
                <a:latin typeface="MV Boli" panose="02000500030200090000" pitchFamily="2" charset="0"/>
                <a:cs typeface="MV Boli" panose="02000500030200090000" pitchFamily="2" charset="0"/>
              </a:rPr>
              <a:t> </a:t>
            </a:r>
          </a:p>
          <a:p>
            <a:r>
              <a:rPr lang="en-US" b="0" i="0" dirty="0">
                <a:solidFill>
                  <a:srgbClr val="FF0000"/>
                </a:solidFill>
                <a:effectLst/>
                <a:latin typeface="Roboto" panose="02000000000000000000" pitchFamily="2" charset="0"/>
              </a:rPr>
              <a:t>Then register </a:t>
            </a:r>
            <a:r>
              <a:rPr lang="en-US" b="0" i="0" dirty="0" err="1">
                <a:solidFill>
                  <a:srgbClr val="FF0000"/>
                </a:solidFill>
                <a:effectLst/>
                <a:latin typeface="Roboto" panose="02000000000000000000" pitchFamily="2" charset="0"/>
              </a:rPr>
              <a:t>xrdp</a:t>
            </a:r>
            <a:r>
              <a:rPr lang="en-US" b="0" i="0" dirty="0">
                <a:solidFill>
                  <a:srgbClr val="FF0000"/>
                </a:solidFill>
                <a:effectLst/>
                <a:latin typeface="Roboto" panose="02000000000000000000" pitchFamily="2" charset="0"/>
              </a:rPr>
              <a:t> in xfce4 </a:t>
            </a:r>
          </a:p>
          <a:p>
            <a:pPr marL="0" indent="0">
              <a:buNone/>
            </a:pPr>
            <a:r>
              <a:rPr lang="en-US" b="0" i="0" dirty="0">
                <a:solidFill>
                  <a:srgbClr val="030303"/>
                </a:solidFill>
                <a:effectLst/>
                <a:latin typeface="MV Boli" panose="02000500030200090000" pitchFamily="2" charset="0"/>
                <a:cs typeface="MV Boli" panose="02000500030200090000" pitchFamily="2" charset="0"/>
              </a:rPr>
              <a:t>echo xfce4-session ＞ ~/.</a:t>
            </a:r>
            <a:r>
              <a:rPr lang="en-US" b="0" i="0" dirty="0" err="1">
                <a:solidFill>
                  <a:srgbClr val="030303"/>
                </a:solidFill>
                <a:effectLst/>
                <a:latin typeface="MV Boli" panose="02000500030200090000" pitchFamily="2" charset="0"/>
                <a:cs typeface="MV Boli" panose="02000500030200090000" pitchFamily="2" charset="0"/>
              </a:rPr>
              <a:t>xsession</a:t>
            </a:r>
            <a:r>
              <a:rPr lang="en-US" b="0" i="0" dirty="0">
                <a:solidFill>
                  <a:srgbClr val="030303"/>
                </a:solidFill>
                <a:effectLst/>
                <a:latin typeface="MV Boli" panose="02000500030200090000" pitchFamily="2" charset="0"/>
                <a:cs typeface="MV Boli" panose="02000500030200090000" pitchFamily="2" charset="0"/>
              </a:rPr>
              <a:t> </a:t>
            </a:r>
          </a:p>
          <a:p>
            <a:r>
              <a:rPr lang="en-US" b="0" i="0" dirty="0">
                <a:solidFill>
                  <a:srgbClr val="FF0000"/>
                </a:solidFill>
                <a:effectLst/>
                <a:latin typeface="Roboto" panose="02000000000000000000" pitchFamily="2" charset="0"/>
              </a:rPr>
              <a:t>Finally restart XRDP </a:t>
            </a:r>
          </a:p>
          <a:p>
            <a:pPr marL="0" indent="0">
              <a:buNone/>
            </a:pPr>
            <a:r>
              <a:rPr lang="en-US" b="0" i="0" dirty="0" err="1">
                <a:solidFill>
                  <a:srgbClr val="030303"/>
                </a:solidFill>
                <a:effectLst/>
                <a:latin typeface="MV Boli" panose="02000500030200090000" pitchFamily="2" charset="0"/>
                <a:cs typeface="MV Boli" panose="02000500030200090000" pitchFamily="2" charset="0"/>
              </a:rPr>
              <a:t>sudo</a:t>
            </a:r>
            <a:r>
              <a:rPr lang="en-US" b="0" i="0" dirty="0">
                <a:solidFill>
                  <a:srgbClr val="030303"/>
                </a:solidFill>
                <a:effectLst/>
                <a:latin typeface="MV Boli" panose="02000500030200090000" pitchFamily="2" charset="0"/>
                <a:cs typeface="MV Boli" panose="02000500030200090000" pitchFamily="2" charset="0"/>
              </a:rPr>
              <a:t> service </a:t>
            </a:r>
            <a:r>
              <a:rPr lang="en-US" b="0" i="0" dirty="0" err="1">
                <a:solidFill>
                  <a:srgbClr val="030303"/>
                </a:solidFill>
                <a:effectLst/>
                <a:latin typeface="MV Boli" panose="02000500030200090000" pitchFamily="2" charset="0"/>
                <a:cs typeface="MV Boli" panose="02000500030200090000" pitchFamily="2" charset="0"/>
              </a:rPr>
              <a:t>xrdp</a:t>
            </a:r>
            <a:r>
              <a:rPr lang="en-US" b="0" i="0" dirty="0">
                <a:solidFill>
                  <a:srgbClr val="030303"/>
                </a:solidFill>
                <a:effectLst/>
                <a:latin typeface="MV Boli" panose="02000500030200090000" pitchFamily="2" charset="0"/>
                <a:cs typeface="MV Boli" panose="02000500030200090000" pitchFamily="2" charset="0"/>
              </a:rPr>
              <a:t> restart</a:t>
            </a:r>
            <a:endParaRPr lang="en-PK" dirty="0">
              <a:latin typeface="MV Boli" panose="02000500030200090000" pitchFamily="2" charset="0"/>
              <a:cs typeface="MV Boli" panose="02000500030200090000" pitchFamily="2" charset="0"/>
            </a:endParaRPr>
          </a:p>
        </p:txBody>
      </p:sp>
    </p:spTree>
    <p:extLst>
      <p:ext uri="{BB962C8B-B14F-4D97-AF65-F5344CB8AC3E}">
        <p14:creationId xmlns:p14="http://schemas.microsoft.com/office/powerpoint/2010/main" val="3043755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03173-1426-28B8-6E3C-86E312C6F589}"/>
              </a:ext>
            </a:extLst>
          </p:cNvPr>
          <p:cNvSpPr>
            <a:spLocks noGrp="1"/>
          </p:cNvSpPr>
          <p:nvPr>
            <p:ph type="title"/>
          </p:nvPr>
        </p:nvSpPr>
        <p:spPr/>
        <p:txBody>
          <a:bodyPr/>
          <a:lstStyle/>
          <a:p>
            <a:r>
              <a:rPr lang="en-US" dirty="0">
                <a:solidFill>
                  <a:srgbClr val="FF0000"/>
                </a:solidFill>
              </a:rPr>
              <a:t>OR</a:t>
            </a:r>
            <a:endParaRPr lang="en-PK" dirty="0">
              <a:solidFill>
                <a:srgbClr val="FF0000"/>
              </a:solidFill>
            </a:endParaRPr>
          </a:p>
        </p:txBody>
      </p:sp>
      <p:sp>
        <p:nvSpPr>
          <p:cNvPr id="3" name="Content Placeholder 2">
            <a:extLst>
              <a:ext uri="{FF2B5EF4-FFF2-40B4-BE49-F238E27FC236}">
                <a16:creationId xmlns:a16="http://schemas.microsoft.com/office/drawing/2014/main" id="{D8570A39-0E87-87E6-6287-A1D09046271E}"/>
              </a:ext>
            </a:extLst>
          </p:cNvPr>
          <p:cNvSpPr>
            <a:spLocks noGrp="1"/>
          </p:cNvSpPr>
          <p:nvPr>
            <p:ph idx="1"/>
          </p:nvPr>
        </p:nvSpPr>
        <p:spPr/>
        <p:txBody>
          <a:bodyPr/>
          <a:lstStyle/>
          <a:p>
            <a:r>
              <a:rPr lang="en-US" dirty="0" err="1"/>
              <a:t>sudo</a:t>
            </a:r>
            <a:r>
              <a:rPr lang="en-US" dirty="0"/>
              <a:t> apt install ubuntu-desktop –y </a:t>
            </a:r>
            <a:r>
              <a:rPr lang="en-US" dirty="0">
                <a:solidFill>
                  <a:srgbClr val="FF0000"/>
                </a:solidFill>
              </a:rPr>
              <a:t>(Latest GUI)</a:t>
            </a:r>
          </a:p>
          <a:p>
            <a:r>
              <a:rPr lang="en-US" dirty="0" err="1"/>
              <a:t>sudo</a:t>
            </a:r>
            <a:r>
              <a:rPr lang="en-US" dirty="0"/>
              <a:t> apt-get -y install </a:t>
            </a:r>
            <a:r>
              <a:rPr lang="en-US" dirty="0" err="1"/>
              <a:t>xrdp</a:t>
            </a:r>
            <a:r>
              <a:rPr lang="en-US" dirty="0"/>
              <a:t> </a:t>
            </a:r>
            <a:r>
              <a:rPr lang="en-US" dirty="0">
                <a:solidFill>
                  <a:srgbClr val="FF0000"/>
                </a:solidFill>
              </a:rPr>
              <a:t>(Install Remote Desktop)</a:t>
            </a:r>
          </a:p>
          <a:p>
            <a:r>
              <a:rPr lang="en-US" dirty="0" err="1"/>
              <a:t>sudo</a:t>
            </a:r>
            <a:r>
              <a:rPr lang="en-US" dirty="0"/>
              <a:t> </a:t>
            </a:r>
            <a:r>
              <a:rPr lang="en-US" dirty="0" err="1"/>
              <a:t>systemctl</a:t>
            </a:r>
            <a:r>
              <a:rPr lang="en-US" dirty="0"/>
              <a:t> enable </a:t>
            </a:r>
            <a:r>
              <a:rPr lang="en-US" dirty="0" err="1"/>
              <a:t>xrdp</a:t>
            </a:r>
            <a:r>
              <a:rPr lang="en-US" dirty="0"/>
              <a:t> </a:t>
            </a:r>
            <a:r>
              <a:rPr lang="en-US">
                <a:solidFill>
                  <a:srgbClr val="FF0000"/>
                </a:solidFill>
              </a:rPr>
              <a:t>(Enable Remote </a:t>
            </a:r>
            <a:r>
              <a:rPr lang="en-US" dirty="0">
                <a:solidFill>
                  <a:srgbClr val="FF0000"/>
                </a:solidFill>
              </a:rPr>
              <a:t>Desktop)</a:t>
            </a:r>
          </a:p>
          <a:p>
            <a:endParaRPr lang="en-PK" dirty="0"/>
          </a:p>
        </p:txBody>
      </p:sp>
    </p:spTree>
    <p:extLst>
      <p:ext uri="{BB962C8B-B14F-4D97-AF65-F5344CB8AC3E}">
        <p14:creationId xmlns:p14="http://schemas.microsoft.com/office/powerpoint/2010/main" val="2449586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TotalTime>
  <Words>1047</Words>
  <Application>Microsoft Office PowerPoint</Application>
  <PresentationFormat>On-screen Show (4:3)</PresentationFormat>
  <Paragraphs>94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MV Boli</vt:lpstr>
      <vt:lpstr>Roboto</vt:lpstr>
      <vt:lpstr>Office Theme</vt:lpstr>
      <vt:lpstr>PowerPoint Presentation</vt:lpstr>
      <vt:lpstr>Types of SLA</vt:lpstr>
      <vt:lpstr>Service Level SLA</vt:lpstr>
      <vt:lpstr>Customer Level SLA</vt:lpstr>
      <vt:lpstr>Multilevel Service Level Agreement</vt:lpstr>
      <vt:lpstr>SLA Example</vt:lpstr>
      <vt:lpstr>SLA Example …</vt:lpstr>
      <vt:lpstr>5 Things to Look For in a Cloud Service Level Agreement</vt:lpstr>
      <vt:lpstr>Availability</vt:lpstr>
      <vt:lpstr>Data ownership</vt:lpstr>
      <vt:lpstr>Cloud hardware and software</vt:lpstr>
      <vt:lpstr>Disaster recovery and backup</vt:lpstr>
      <vt:lpstr>Customer responsibilities</vt:lpstr>
      <vt:lpstr>How often should we revise our SLAs?</vt:lpstr>
      <vt:lpstr>Cloud SLA examples</vt:lpstr>
      <vt:lpstr>Few questions to ponder </vt:lpstr>
      <vt:lpstr>Enabling Desktop , RDP on Linux LTS Server</vt:lpstr>
      <vt:lpstr>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c:title>
  <dc:creator>Fahad</dc:creator>
  <cp:lastModifiedBy>Faisal Ubaid</cp:lastModifiedBy>
  <cp:revision>27</cp:revision>
  <dcterms:created xsi:type="dcterms:W3CDTF">2006-08-16T00:00:00Z</dcterms:created>
  <dcterms:modified xsi:type="dcterms:W3CDTF">2025-02-13T06:05:35Z</dcterms:modified>
</cp:coreProperties>
</file>