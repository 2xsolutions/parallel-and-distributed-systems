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67" r:id="rId2"/>
    <p:sldId id="281" r:id="rId3"/>
    <p:sldId id="263" r:id="rId4"/>
    <p:sldId id="266" r:id="rId5"/>
    <p:sldId id="268" r:id="rId6"/>
    <p:sldId id="269" r:id="rId7"/>
    <p:sldId id="270" r:id="rId8"/>
    <p:sldId id="279" r:id="rId9"/>
    <p:sldId id="302" r:id="rId10"/>
    <p:sldId id="303" r:id="rId11"/>
    <p:sldId id="272" r:id="rId12"/>
    <p:sldId id="273" r:id="rId13"/>
    <p:sldId id="280" r:id="rId14"/>
    <p:sldId id="271" r:id="rId15"/>
    <p:sldId id="300" r:id="rId16"/>
    <p:sldId id="275" r:id="rId17"/>
    <p:sldId id="276" r:id="rId18"/>
    <p:sldId id="277" r:id="rId19"/>
    <p:sldId id="278" r:id="rId20"/>
    <p:sldId id="301" r:id="rId21"/>
    <p:sldId id="257" r:id="rId22"/>
    <p:sldId id="258" r:id="rId23"/>
    <p:sldId id="287" r:id="rId24"/>
    <p:sldId id="259" r:id="rId25"/>
    <p:sldId id="296" r:id="rId26"/>
    <p:sldId id="297" r:id="rId27"/>
    <p:sldId id="288" r:id="rId28"/>
    <p:sldId id="289" r:id="rId29"/>
    <p:sldId id="260" r:id="rId30"/>
    <p:sldId id="261" r:id="rId31"/>
    <p:sldId id="262" r:id="rId32"/>
    <p:sldId id="265" r:id="rId33"/>
    <p:sldId id="304" r:id="rId34"/>
    <p:sldId id="291" r:id="rId35"/>
    <p:sldId id="298" r:id="rId36"/>
    <p:sldId id="299" r:id="rId37"/>
    <p:sldId id="294" r:id="rId38"/>
    <p:sldId id="295"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1" d="100"/>
          <a:sy n="101" d="100"/>
        </p:scale>
        <p:origin x="191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A5EC70-0A5D-4B0F-8B64-CAF129F188E4}" type="datetimeFigureOut">
              <a:rPr lang="en-US" smtClean="0"/>
              <a:t>1/20/2026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FFE6300-A3F5-4BE8-9612-EE9FEBCBF6DA}" type="slidenum">
              <a:rPr lang="en-US" smtClean="0"/>
              <a:t>‹#›</a:t>
            </a:fld>
            <a:endParaRPr lang="en-US"/>
          </a:p>
        </p:txBody>
      </p:sp>
    </p:spTree>
    <p:extLst>
      <p:ext uri="{BB962C8B-B14F-4D97-AF65-F5344CB8AC3E}">
        <p14:creationId xmlns:p14="http://schemas.microsoft.com/office/powerpoint/2010/main" val="2944406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eaLnBrk="0" hangingPunct="0">
              <a:defRPr sz="2000" b="1">
                <a:solidFill>
                  <a:schemeClr val="tx1"/>
                </a:solidFill>
                <a:latin typeface="Courier New" pitchFamily="49" charset="0"/>
              </a:defRPr>
            </a:lvl1pPr>
            <a:lvl2pPr marL="742950" indent="-285750" eaLnBrk="0" hangingPunct="0">
              <a:defRPr sz="2000" b="1">
                <a:solidFill>
                  <a:schemeClr val="tx1"/>
                </a:solidFill>
                <a:latin typeface="Courier New" pitchFamily="49" charset="0"/>
              </a:defRPr>
            </a:lvl2pPr>
            <a:lvl3pPr marL="1143000" indent="-228600" eaLnBrk="0" hangingPunct="0">
              <a:defRPr sz="2000" b="1">
                <a:solidFill>
                  <a:schemeClr val="tx1"/>
                </a:solidFill>
                <a:latin typeface="Courier New" pitchFamily="49" charset="0"/>
              </a:defRPr>
            </a:lvl3pPr>
            <a:lvl4pPr marL="1600200" indent="-228600" eaLnBrk="0" hangingPunct="0">
              <a:defRPr sz="2000" b="1">
                <a:solidFill>
                  <a:schemeClr val="tx1"/>
                </a:solidFill>
                <a:latin typeface="Courier New" pitchFamily="49" charset="0"/>
              </a:defRPr>
            </a:lvl4pPr>
            <a:lvl5pPr marL="2057400" indent="-228600" eaLnBrk="0" hangingPunct="0">
              <a:defRPr sz="2000" b="1">
                <a:solidFill>
                  <a:schemeClr val="tx1"/>
                </a:solidFill>
                <a:latin typeface="Courier New" pitchFamily="49" charset="0"/>
              </a:defRPr>
            </a:lvl5pPr>
            <a:lvl6pPr marL="2514600" indent="-228600" eaLnBrk="0" fontAlgn="base" hangingPunct="0">
              <a:lnSpc>
                <a:spcPct val="80000"/>
              </a:lnSpc>
              <a:spcBef>
                <a:spcPct val="20000"/>
              </a:spcBef>
              <a:spcAft>
                <a:spcPct val="0"/>
              </a:spcAft>
              <a:buFont typeface="Wingdings" pitchFamily="2" charset="2"/>
              <a:defRPr sz="2000" b="1">
                <a:solidFill>
                  <a:schemeClr val="tx1"/>
                </a:solidFill>
                <a:latin typeface="Courier New" pitchFamily="49" charset="0"/>
              </a:defRPr>
            </a:lvl6pPr>
            <a:lvl7pPr marL="2971800" indent="-228600" eaLnBrk="0" fontAlgn="base" hangingPunct="0">
              <a:lnSpc>
                <a:spcPct val="80000"/>
              </a:lnSpc>
              <a:spcBef>
                <a:spcPct val="20000"/>
              </a:spcBef>
              <a:spcAft>
                <a:spcPct val="0"/>
              </a:spcAft>
              <a:buFont typeface="Wingdings" pitchFamily="2" charset="2"/>
              <a:defRPr sz="2000" b="1">
                <a:solidFill>
                  <a:schemeClr val="tx1"/>
                </a:solidFill>
                <a:latin typeface="Courier New" pitchFamily="49" charset="0"/>
              </a:defRPr>
            </a:lvl7pPr>
            <a:lvl8pPr marL="3429000" indent="-228600" eaLnBrk="0" fontAlgn="base" hangingPunct="0">
              <a:lnSpc>
                <a:spcPct val="80000"/>
              </a:lnSpc>
              <a:spcBef>
                <a:spcPct val="20000"/>
              </a:spcBef>
              <a:spcAft>
                <a:spcPct val="0"/>
              </a:spcAft>
              <a:buFont typeface="Wingdings" pitchFamily="2" charset="2"/>
              <a:defRPr sz="2000" b="1">
                <a:solidFill>
                  <a:schemeClr val="tx1"/>
                </a:solidFill>
                <a:latin typeface="Courier New" pitchFamily="49" charset="0"/>
              </a:defRPr>
            </a:lvl8pPr>
            <a:lvl9pPr marL="3886200" indent="-228600" eaLnBrk="0" fontAlgn="base" hangingPunct="0">
              <a:lnSpc>
                <a:spcPct val="80000"/>
              </a:lnSpc>
              <a:spcBef>
                <a:spcPct val="20000"/>
              </a:spcBef>
              <a:spcAft>
                <a:spcPct val="0"/>
              </a:spcAft>
              <a:buFont typeface="Wingdings" pitchFamily="2" charset="2"/>
              <a:defRPr sz="2000" b="1">
                <a:solidFill>
                  <a:schemeClr val="tx1"/>
                </a:solidFill>
                <a:latin typeface="Courier New" pitchFamily="49" charset="0"/>
              </a:defRPr>
            </a:lvl9pPr>
          </a:lstStyle>
          <a:p>
            <a:pPr eaLnBrk="1" hangingPunct="1"/>
            <a:fld id="{BD924CB9-BF52-43DE-B0B8-E4E44D446BDC}" type="slidenum">
              <a:rPr lang="en-US" sz="1200" b="0" smtClean="0">
                <a:latin typeface="Times New Roman" pitchFamily="18" charset="0"/>
              </a:rPr>
              <a:pPr eaLnBrk="1" hangingPunct="1"/>
              <a:t>1</a:t>
            </a:fld>
            <a:endParaRPr lang="en-US" sz="1200" b="0">
              <a:latin typeface="Times New Roman" pitchFamily="18"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563C05-88A1-4B82-9807-5C61BA1D4B0F}"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3592024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563C05-88A1-4B82-9807-5C61BA1D4B0F}"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239492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563C05-88A1-4B82-9807-5C61BA1D4B0F}"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2321336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C563C05-88A1-4B82-9807-5C61BA1D4B0F}" type="datetimeFigureOut">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2818144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C563C05-88A1-4B82-9807-5C61BA1D4B0F}" type="datetimeFigureOut">
              <a:rPr lang="en-US" smtClean="0"/>
              <a:t>1/20/2026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519664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563C05-88A1-4B82-9807-5C61BA1D4B0F}" type="datetimeFigureOut">
              <a:rPr lang="en-US" smtClean="0"/>
              <a:t>1/20/2026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2435286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563C05-88A1-4B82-9807-5C61BA1D4B0F}" type="datetimeFigureOut">
              <a:rPr lang="en-US" smtClean="0"/>
              <a:t>1/20/2026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3177610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563C05-88A1-4B82-9807-5C61BA1D4B0F}" type="datetimeFigureOut">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1851050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563C05-88A1-4B82-9807-5C61BA1D4B0F}" type="datetimeFigureOut">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2419419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563C05-88A1-4B82-9807-5C61BA1D4B0F}"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1733249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563C05-88A1-4B82-9807-5C61BA1D4B0F}"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D4AFA-FF10-43D4-88D9-27B4EE7FC75F}" type="slidenum">
              <a:rPr lang="en-US" smtClean="0"/>
              <a:t>‹#›</a:t>
            </a:fld>
            <a:endParaRPr lang="en-US"/>
          </a:p>
        </p:txBody>
      </p:sp>
    </p:spTree>
    <p:extLst>
      <p:ext uri="{BB962C8B-B14F-4D97-AF65-F5344CB8AC3E}">
        <p14:creationId xmlns:p14="http://schemas.microsoft.com/office/powerpoint/2010/main" val="1050073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563C05-88A1-4B82-9807-5C61BA1D4B0F}" type="datetimeFigureOut">
              <a:rPr lang="en-US" smtClean="0"/>
              <a:t>1/20/2026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0D4AFA-FF10-43D4-88D9-27B4EE7FC75F}" type="slidenum">
              <a:rPr lang="en-US" smtClean="0"/>
              <a:t>‹#›</a:t>
            </a:fld>
            <a:endParaRPr lang="en-US"/>
          </a:p>
        </p:txBody>
      </p:sp>
    </p:spTree>
    <p:extLst>
      <p:ext uri="{BB962C8B-B14F-4D97-AF65-F5344CB8AC3E}">
        <p14:creationId xmlns:p14="http://schemas.microsoft.com/office/powerpoint/2010/main" val="35836546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6"/>
          <p:cNvSpPr>
            <a:spLocks noChangeArrowheads="1"/>
          </p:cNvSpPr>
          <p:nvPr/>
        </p:nvSpPr>
        <p:spPr bwMode="auto">
          <a:xfrm>
            <a:off x="381000" y="1524000"/>
            <a:ext cx="84582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lnSpc>
                <a:spcPct val="100000"/>
              </a:lnSpc>
              <a:spcBef>
                <a:spcPct val="0"/>
              </a:spcBef>
              <a:buFontTx/>
              <a:buNone/>
            </a:pPr>
            <a:r>
              <a:rPr lang="en-US" sz="4400" b="0" dirty="0">
                <a:solidFill>
                  <a:schemeClr val="tx2"/>
                </a:solidFill>
                <a:latin typeface="Helvetica" pitchFamily="34" charset="0"/>
              </a:rPr>
              <a:t>Parallel &amp; Distributed Computing</a:t>
            </a:r>
          </a:p>
          <a:p>
            <a:pPr algn="ctr">
              <a:lnSpc>
                <a:spcPct val="100000"/>
              </a:lnSpc>
              <a:spcBef>
                <a:spcPct val="0"/>
              </a:spcBef>
              <a:buFontTx/>
              <a:buNone/>
            </a:pPr>
            <a:endParaRPr lang="en-US" sz="4400" b="0" dirty="0">
              <a:solidFill>
                <a:schemeClr val="tx2"/>
              </a:solidFill>
              <a:latin typeface="Helvetica" pitchFamily="34" charset="0"/>
            </a:endParaRPr>
          </a:p>
          <a:p>
            <a:pPr algn="ctr">
              <a:lnSpc>
                <a:spcPct val="100000"/>
              </a:lnSpc>
              <a:spcBef>
                <a:spcPct val="0"/>
              </a:spcBef>
              <a:buFontTx/>
              <a:buNone/>
            </a:pPr>
            <a:r>
              <a:rPr lang="en-US" sz="4400" b="0" dirty="0">
                <a:solidFill>
                  <a:schemeClr val="tx2"/>
                </a:solidFill>
                <a:latin typeface="Helvetica" pitchFamily="34" charset="0"/>
              </a:rPr>
              <a:t>Lecture 2 </a:t>
            </a:r>
            <a:br>
              <a:rPr lang="en-US" sz="4400" b="0" dirty="0">
                <a:solidFill>
                  <a:schemeClr val="tx2"/>
                </a:solidFill>
                <a:latin typeface="Helvetica" pitchFamily="34" charset="0"/>
              </a:rPr>
            </a:br>
            <a:endParaRPr lang="en-US" sz="4400" b="0" dirty="0">
              <a:solidFill>
                <a:schemeClr val="tx2"/>
              </a:solidFill>
              <a:latin typeface="Helvetica" pitchFamily="34" charset="0"/>
            </a:endParaRPr>
          </a:p>
          <a:p>
            <a:pPr algn="ctr">
              <a:lnSpc>
                <a:spcPct val="100000"/>
              </a:lnSpc>
              <a:spcBef>
                <a:spcPct val="0"/>
              </a:spcBef>
              <a:buFontTx/>
              <a:buNone/>
            </a:pPr>
            <a:r>
              <a:rPr lang="en-US" sz="3600" b="0" dirty="0">
                <a:solidFill>
                  <a:schemeClr val="tx2"/>
                </a:solidFill>
                <a:latin typeface="Helvetica" pitchFamily="34" charset="0"/>
              </a:rPr>
              <a:t>Dr. Faisal Bin </a:t>
            </a:r>
            <a:r>
              <a:rPr lang="en-US" sz="3600" b="0" dirty="0" err="1">
                <a:solidFill>
                  <a:schemeClr val="tx2"/>
                </a:solidFill>
                <a:latin typeface="Helvetica" pitchFamily="34" charset="0"/>
              </a:rPr>
              <a:t>Ubaid</a:t>
            </a:r>
            <a:endParaRPr lang="en-US" sz="3600" b="0" dirty="0">
              <a:solidFill>
                <a:schemeClr val="tx2"/>
              </a:solidFill>
              <a:latin typeface="Helvetica" pitchFamily="34" charset="0"/>
            </a:endParaRPr>
          </a:p>
        </p:txBody>
      </p:sp>
    </p:spTree>
    <p:extLst>
      <p:ext uri="{BB962C8B-B14F-4D97-AF65-F5344CB8AC3E}">
        <p14:creationId xmlns:p14="http://schemas.microsoft.com/office/powerpoint/2010/main" val="3526574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95600"/>
            <a:ext cx="8229600" cy="1143000"/>
          </a:xfrm>
        </p:spPr>
        <p:txBody>
          <a:bodyPr>
            <a:normAutofit fontScale="90000"/>
          </a:bodyPr>
          <a:lstStyle/>
          <a:p>
            <a:r>
              <a:rPr lang="en-US" b="1" dirty="0">
                <a:solidFill>
                  <a:schemeClr val="accent1"/>
                </a:solidFill>
              </a:rPr>
              <a:t>Advantages of cloud computing?</a:t>
            </a:r>
            <a:br>
              <a:rPr lang="en-US" b="1" dirty="0">
                <a:solidFill>
                  <a:schemeClr val="accent1"/>
                </a:solidFill>
              </a:rPr>
            </a:br>
            <a:endParaRPr lang="en-US" dirty="0">
              <a:solidFill>
                <a:schemeClr val="accent1"/>
              </a:solidFill>
            </a:endParaRPr>
          </a:p>
        </p:txBody>
      </p:sp>
    </p:spTree>
    <p:extLst>
      <p:ext uri="{BB962C8B-B14F-4D97-AF65-F5344CB8AC3E}">
        <p14:creationId xmlns:p14="http://schemas.microsoft.com/office/powerpoint/2010/main" val="3919071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Advantages of cloud computing</a:t>
            </a:r>
          </a:p>
        </p:txBody>
      </p:sp>
      <p:sp>
        <p:nvSpPr>
          <p:cNvPr id="3" name="Content Placeholder 2"/>
          <p:cNvSpPr>
            <a:spLocks noGrp="1"/>
          </p:cNvSpPr>
          <p:nvPr>
            <p:ph idx="1"/>
          </p:nvPr>
        </p:nvSpPr>
        <p:spPr/>
        <p:txBody>
          <a:bodyPr/>
          <a:lstStyle/>
          <a:p>
            <a:pPr marL="0" indent="0">
              <a:buNone/>
            </a:pPr>
            <a:r>
              <a:rPr lang="en-US" b="1" dirty="0">
                <a:solidFill>
                  <a:srgbClr val="FF0000"/>
                </a:solidFill>
              </a:rPr>
              <a:t>Cost</a:t>
            </a:r>
          </a:p>
          <a:p>
            <a:pPr marL="0" indent="0">
              <a:buNone/>
            </a:pPr>
            <a:r>
              <a:rPr lang="en-US" dirty="0"/>
              <a:t>Cloud computing eliminates the capital expense of buying hardware and software and setting up and running on-site datacenters—</a:t>
            </a:r>
            <a:r>
              <a:rPr lang="en-US" dirty="0">
                <a:solidFill>
                  <a:srgbClr val="00B050"/>
                </a:solidFill>
              </a:rPr>
              <a:t>the racks of servers, the round-the-clock electricity for power and cooling, and the IT experts for managing the infrastructure</a:t>
            </a:r>
            <a:r>
              <a:rPr lang="en-US" dirty="0"/>
              <a:t>. </a:t>
            </a:r>
          </a:p>
        </p:txBody>
      </p:sp>
    </p:spTree>
    <p:extLst>
      <p:ext uri="{BB962C8B-B14F-4D97-AF65-F5344CB8AC3E}">
        <p14:creationId xmlns:p14="http://schemas.microsoft.com/office/powerpoint/2010/main" val="2393243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fontScale="92500" lnSpcReduction="10000"/>
          </a:bodyPr>
          <a:lstStyle/>
          <a:p>
            <a:pPr marL="0" indent="0">
              <a:buNone/>
            </a:pPr>
            <a:r>
              <a:rPr lang="en-US" b="1" dirty="0">
                <a:solidFill>
                  <a:srgbClr val="FF0000"/>
                </a:solidFill>
              </a:rPr>
              <a:t>Speed</a:t>
            </a:r>
          </a:p>
          <a:p>
            <a:pPr marL="0" indent="0">
              <a:buNone/>
            </a:pPr>
            <a:r>
              <a:rPr lang="en-US" dirty="0"/>
              <a:t>Most cloud computing services are provided self service and on demand, so even vast amounts of </a:t>
            </a:r>
            <a:r>
              <a:rPr lang="en-US" dirty="0">
                <a:solidFill>
                  <a:srgbClr val="00B050"/>
                </a:solidFill>
              </a:rPr>
              <a:t>computing resources can be provisioned in minutes, typically with just a few mouse clicks</a:t>
            </a:r>
            <a:r>
              <a:rPr lang="en-US" dirty="0"/>
              <a:t>, giving businesses a lot of flexibility and taking the pressure off capacity planning.</a:t>
            </a:r>
          </a:p>
          <a:p>
            <a:pPr marL="0" indent="0">
              <a:buNone/>
            </a:pPr>
            <a:r>
              <a:rPr lang="en-US" b="1" dirty="0">
                <a:solidFill>
                  <a:srgbClr val="FF0000"/>
                </a:solidFill>
              </a:rPr>
              <a:t>Global scale</a:t>
            </a:r>
          </a:p>
          <a:p>
            <a:pPr marL="0" indent="0">
              <a:buNone/>
            </a:pPr>
            <a:r>
              <a:rPr lang="en-US" dirty="0"/>
              <a:t>The benefits of cloud computing services include the ability to scale elastically. That means delivering the right amount of IT resources—for example, more or less computing power, storage, bandwidth—</a:t>
            </a:r>
            <a:r>
              <a:rPr lang="en-US" dirty="0">
                <a:solidFill>
                  <a:srgbClr val="00B050"/>
                </a:solidFill>
              </a:rPr>
              <a:t>right when they’re needed, and from the right geographic location</a:t>
            </a:r>
            <a:r>
              <a:rPr lang="en-US" dirty="0"/>
              <a:t>.</a:t>
            </a:r>
          </a:p>
        </p:txBody>
      </p:sp>
    </p:spTree>
    <p:extLst>
      <p:ext uri="{BB962C8B-B14F-4D97-AF65-F5344CB8AC3E}">
        <p14:creationId xmlns:p14="http://schemas.microsoft.com/office/powerpoint/2010/main" val="2679522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fontScale="92500"/>
          </a:bodyPr>
          <a:lstStyle/>
          <a:p>
            <a:pPr marL="0" indent="0">
              <a:buNone/>
            </a:pPr>
            <a:r>
              <a:rPr lang="en-US" b="1" dirty="0">
                <a:solidFill>
                  <a:srgbClr val="FF0000"/>
                </a:solidFill>
              </a:rPr>
              <a:t>Productivity</a:t>
            </a:r>
          </a:p>
          <a:p>
            <a:pPr marL="0" indent="0">
              <a:buNone/>
            </a:pPr>
            <a:r>
              <a:rPr lang="en-US" dirty="0"/>
              <a:t>On-site datacenters typically require a lot of “</a:t>
            </a:r>
            <a:r>
              <a:rPr lang="en-US" dirty="0">
                <a:solidFill>
                  <a:srgbClr val="FF0000"/>
                </a:solidFill>
              </a:rPr>
              <a:t>racking and stacking</a:t>
            </a:r>
            <a:r>
              <a:rPr lang="en-US" dirty="0"/>
              <a:t>”—hardware setup, software patching, and other time-consuming IT management chores. Cloud computing removes the need for many of these tasks, so IT teams can spend time on </a:t>
            </a:r>
            <a:r>
              <a:rPr lang="en-US" dirty="0">
                <a:solidFill>
                  <a:srgbClr val="00B050"/>
                </a:solidFill>
              </a:rPr>
              <a:t>achieving more important business goals.</a:t>
            </a:r>
          </a:p>
          <a:p>
            <a:pPr marL="0" indent="0">
              <a:buNone/>
            </a:pPr>
            <a:r>
              <a:rPr lang="en-US" b="1" dirty="0">
                <a:solidFill>
                  <a:srgbClr val="FF0000"/>
                </a:solidFill>
              </a:rPr>
              <a:t>Reliability</a:t>
            </a:r>
          </a:p>
          <a:p>
            <a:pPr marL="0" indent="0">
              <a:buNone/>
            </a:pPr>
            <a:r>
              <a:rPr lang="en-US" dirty="0"/>
              <a:t>Cloud computing makes data backup, disaster recovery, and business continuity easier and less expensive because data can be mirrored at multiple redundant sites on the cloud provider’s network.</a:t>
            </a:r>
          </a:p>
        </p:txBody>
      </p:sp>
    </p:spTree>
    <p:extLst>
      <p:ext uri="{BB962C8B-B14F-4D97-AF65-F5344CB8AC3E}">
        <p14:creationId xmlns:p14="http://schemas.microsoft.com/office/powerpoint/2010/main" val="4237355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95600"/>
            <a:ext cx="8229600" cy="1143000"/>
          </a:xfrm>
        </p:spPr>
        <p:txBody>
          <a:bodyPr>
            <a:normAutofit fontScale="90000"/>
          </a:bodyPr>
          <a:lstStyle/>
          <a:p>
            <a:r>
              <a:rPr lang="en-US" b="1" dirty="0">
                <a:solidFill>
                  <a:schemeClr val="accent1"/>
                </a:solidFill>
              </a:rPr>
              <a:t>Disadvantages of cloud computing?</a:t>
            </a:r>
            <a:br>
              <a:rPr lang="en-US" b="1" dirty="0">
                <a:solidFill>
                  <a:schemeClr val="accent1"/>
                </a:solidFill>
              </a:rPr>
            </a:br>
            <a:endParaRPr lang="en-US" dirty="0">
              <a:solidFill>
                <a:schemeClr val="accent1"/>
              </a:solidFill>
            </a:endParaRPr>
          </a:p>
        </p:txBody>
      </p:sp>
    </p:spTree>
    <p:extLst>
      <p:ext uri="{BB962C8B-B14F-4D97-AF65-F5344CB8AC3E}">
        <p14:creationId xmlns:p14="http://schemas.microsoft.com/office/powerpoint/2010/main" val="600805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solidFill>
              </a:rPr>
              <a:t>Disadvantages of cloud computing</a:t>
            </a:r>
          </a:p>
        </p:txBody>
      </p:sp>
      <p:sp>
        <p:nvSpPr>
          <p:cNvPr id="3" name="Content Placeholder 2"/>
          <p:cNvSpPr>
            <a:spLocks noGrp="1"/>
          </p:cNvSpPr>
          <p:nvPr>
            <p:ph idx="1"/>
          </p:nvPr>
        </p:nvSpPr>
        <p:spPr>
          <a:xfrm>
            <a:off x="457200" y="1600200"/>
            <a:ext cx="8229600" cy="5029200"/>
          </a:xfrm>
        </p:spPr>
        <p:txBody>
          <a:bodyPr>
            <a:normAutofit fontScale="92500" lnSpcReduction="10000"/>
          </a:bodyPr>
          <a:lstStyle/>
          <a:p>
            <a:r>
              <a:rPr lang="en-US" dirty="0"/>
              <a:t>Cloud computing is not necessarily cheaper than other forms of computing, just as </a:t>
            </a:r>
            <a:r>
              <a:rPr lang="en-US" dirty="0">
                <a:solidFill>
                  <a:srgbClr val="FF0000"/>
                </a:solidFill>
              </a:rPr>
              <a:t>renting is not always cheaper than buying </a:t>
            </a:r>
            <a:r>
              <a:rPr lang="en-US" dirty="0"/>
              <a:t>in the long term</a:t>
            </a:r>
          </a:p>
          <a:p>
            <a:r>
              <a:rPr lang="en-US" dirty="0">
                <a:solidFill>
                  <a:srgbClr val="00B050"/>
                </a:solidFill>
              </a:rPr>
              <a:t>If an application has a regular and predictable requirement for computing services it may be more economical to provide that service in-house</a:t>
            </a:r>
          </a:p>
          <a:p>
            <a:r>
              <a:rPr lang="en-US" dirty="0"/>
              <a:t>Some companies may be reluctant to host sensitive data in a service that is also used by </a:t>
            </a:r>
            <a:r>
              <a:rPr lang="en-US" dirty="0">
                <a:solidFill>
                  <a:srgbClr val="00B050"/>
                </a:solidFill>
              </a:rPr>
              <a:t>rivals</a:t>
            </a:r>
          </a:p>
          <a:p>
            <a:r>
              <a:rPr lang="en-US" dirty="0"/>
              <a:t>And of course, you can only access your applications if you have an internet connection.</a:t>
            </a:r>
          </a:p>
        </p:txBody>
      </p:sp>
    </p:spTree>
    <p:extLst>
      <p:ext uri="{BB962C8B-B14F-4D97-AF65-F5344CB8AC3E}">
        <p14:creationId xmlns:p14="http://schemas.microsoft.com/office/powerpoint/2010/main" val="1151420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BEE0FF-0277-6356-EBA2-3CCC4FB89834}"/>
              </a:ext>
            </a:extLst>
          </p:cNvPr>
          <p:cNvSpPr>
            <a:spLocks noGrp="1"/>
          </p:cNvSpPr>
          <p:nvPr>
            <p:ph idx="1"/>
          </p:nvPr>
        </p:nvSpPr>
        <p:spPr>
          <a:xfrm>
            <a:off x="533400" y="457200"/>
            <a:ext cx="8229600" cy="4525963"/>
          </a:xfrm>
        </p:spPr>
        <p:txBody>
          <a:bodyPr>
            <a:normAutofit fontScale="92500" lnSpcReduction="10000"/>
          </a:bodyPr>
          <a:lstStyle/>
          <a:p>
            <a:r>
              <a:rPr lang="en-US" dirty="0"/>
              <a:t>Even the largest and most technologically advanced companies can be </a:t>
            </a:r>
            <a:r>
              <a:rPr lang="en-US" dirty="0">
                <a:solidFill>
                  <a:srgbClr val="00B050"/>
                </a:solidFill>
              </a:rPr>
              <a:t>vulnerable to being hacked.</a:t>
            </a:r>
          </a:p>
          <a:p>
            <a:r>
              <a:rPr lang="en-US" dirty="0"/>
              <a:t>Case in point is the pioneering electric car company, Tesla, owned by tech billionaire Elon Musk.</a:t>
            </a:r>
          </a:p>
          <a:p>
            <a:r>
              <a:rPr lang="en-US" dirty="0">
                <a:solidFill>
                  <a:srgbClr val="00B050"/>
                </a:solidFill>
              </a:rPr>
              <a:t>An unidentified hacker or hackers broke into a Tesla-owned Amazon cloud account and used it to “mine” cryptocurrency , </a:t>
            </a:r>
            <a:r>
              <a:rPr lang="en-US" dirty="0" err="1">
                <a:solidFill>
                  <a:srgbClr val="00B050"/>
                </a:solidFill>
              </a:rPr>
              <a:t>Monero</a:t>
            </a:r>
            <a:endParaRPr lang="en-US" dirty="0">
              <a:solidFill>
                <a:srgbClr val="00B050"/>
              </a:solidFill>
            </a:endParaRPr>
          </a:p>
          <a:p>
            <a:r>
              <a:rPr lang="en-US" dirty="0"/>
              <a:t>Who knows when; who knows for how long!</a:t>
            </a:r>
            <a:endParaRPr lang="en-PK" dirty="0"/>
          </a:p>
        </p:txBody>
      </p:sp>
    </p:spTree>
    <p:extLst>
      <p:ext uri="{BB962C8B-B14F-4D97-AF65-F5344CB8AC3E}">
        <p14:creationId xmlns:p14="http://schemas.microsoft.com/office/powerpoint/2010/main" val="4079571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F50F2-812C-E999-82E8-79285C174B1A}"/>
              </a:ext>
            </a:extLst>
          </p:cNvPr>
          <p:cNvSpPr>
            <a:spLocks noGrp="1"/>
          </p:cNvSpPr>
          <p:nvPr>
            <p:ph type="title"/>
          </p:nvPr>
        </p:nvSpPr>
        <p:spPr/>
        <p:txBody>
          <a:bodyPr/>
          <a:lstStyle/>
          <a:p>
            <a:r>
              <a:rPr lang="en-US" dirty="0">
                <a:solidFill>
                  <a:schemeClr val="accent1"/>
                </a:solidFill>
              </a:rPr>
              <a:t>Capital One Data Breach (2019)</a:t>
            </a:r>
            <a:endParaRPr lang="en-PK" dirty="0">
              <a:solidFill>
                <a:schemeClr val="accent1"/>
              </a:solidFill>
            </a:endParaRPr>
          </a:p>
        </p:txBody>
      </p:sp>
      <p:sp>
        <p:nvSpPr>
          <p:cNvPr id="3" name="Content Placeholder 2">
            <a:extLst>
              <a:ext uri="{FF2B5EF4-FFF2-40B4-BE49-F238E27FC236}">
                <a16:creationId xmlns:a16="http://schemas.microsoft.com/office/drawing/2014/main" id="{8E9A7664-8F78-1ADC-01C0-FDC60A02D386}"/>
              </a:ext>
            </a:extLst>
          </p:cNvPr>
          <p:cNvSpPr>
            <a:spLocks noGrp="1"/>
          </p:cNvSpPr>
          <p:nvPr>
            <p:ph idx="1"/>
          </p:nvPr>
        </p:nvSpPr>
        <p:spPr/>
        <p:txBody>
          <a:bodyPr>
            <a:normAutofit fontScale="92500" lnSpcReduction="20000"/>
          </a:bodyPr>
          <a:lstStyle/>
          <a:p>
            <a:r>
              <a:rPr lang="en-US" dirty="0">
                <a:solidFill>
                  <a:srgbClr val="00B050"/>
                </a:solidFill>
              </a:rPr>
              <a:t>What Happened: </a:t>
            </a:r>
            <a:r>
              <a:rPr lang="en-US" dirty="0"/>
              <a:t>A former employee of Amazon Web Services (AWS) exploited a misconfigured firewall to access sensitive data from Capital One, which was hosted on AWS. The breach affected over 100 million customers, exposing personal and financial information.</a:t>
            </a:r>
          </a:p>
          <a:p>
            <a:r>
              <a:rPr lang="en-US" dirty="0">
                <a:solidFill>
                  <a:srgbClr val="00B050"/>
                </a:solidFill>
              </a:rPr>
              <a:t>Key Concern</a:t>
            </a:r>
            <a:r>
              <a:rPr lang="en-US" dirty="0"/>
              <a:t>: Although the cloud provider (AWS) wasn't directly at fault, the breach showcased how misconfigurations and insider threats in shared environments can lead to significant data exposure.</a:t>
            </a:r>
            <a:endParaRPr lang="en-PK" dirty="0"/>
          </a:p>
        </p:txBody>
      </p:sp>
    </p:spTree>
    <p:extLst>
      <p:ext uri="{BB962C8B-B14F-4D97-AF65-F5344CB8AC3E}">
        <p14:creationId xmlns:p14="http://schemas.microsoft.com/office/powerpoint/2010/main" val="1096745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03F99-CA8D-621F-59A8-DB1DB4F54B0B}"/>
              </a:ext>
            </a:extLst>
          </p:cNvPr>
          <p:cNvSpPr>
            <a:spLocks noGrp="1"/>
          </p:cNvSpPr>
          <p:nvPr>
            <p:ph type="title"/>
          </p:nvPr>
        </p:nvSpPr>
        <p:spPr/>
        <p:txBody>
          <a:bodyPr>
            <a:normAutofit fontScale="90000"/>
          </a:bodyPr>
          <a:lstStyle/>
          <a:p>
            <a:r>
              <a:rPr lang="en-US" dirty="0">
                <a:solidFill>
                  <a:schemeClr val="accent1"/>
                </a:solidFill>
              </a:rPr>
              <a:t>Microsoft Azure Cosmos DB Vulnerability (2021)</a:t>
            </a:r>
            <a:endParaRPr lang="en-PK" dirty="0">
              <a:solidFill>
                <a:schemeClr val="accent1"/>
              </a:solidFill>
            </a:endParaRPr>
          </a:p>
        </p:txBody>
      </p:sp>
      <p:sp>
        <p:nvSpPr>
          <p:cNvPr id="3" name="Content Placeholder 2">
            <a:extLst>
              <a:ext uri="{FF2B5EF4-FFF2-40B4-BE49-F238E27FC236}">
                <a16:creationId xmlns:a16="http://schemas.microsoft.com/office/drawing/2014/main" id="{5DFD7B3F-8607-768F-C419-F8C8AEEE8BBF}"/>
              </a:ext>
            </a:extLst>
          </p:cNvPr>
          <p:cNvSpPr>
            <a:spLocks noGrp="1"/>
          </p:cNvSpPr>
          <p:nvPr>
            <p:ph idx="1"/>
          </p:nvPr>
        </p:nvSpPr>
        <p:spPr/>
        <p:txBody>
          <a:bodyPr>
            <a:normAutofit lnSpcReduction="10000"/>
          </a:bodyPr>
          <a:lstStyle/>
          <a:p>
            <a:r>
              <a:rPr lang="en-US" dirty="0">
                <a:solidFill>
                  <a:srgbClr val="00B050"/>
                </a:solidFill>
              </a:rPr>
              <a:t>What Happened: </a:t>
            </a:r>
            <a:r>
              <a:rPr lang="en-US" dirty="0"/>
              <a:t>Researchers discovered the "</a:t>
            </a:r>
            <a:r>
              <a:rPr lang="en-US" dirty="0" err="1"/>
              <a:t>ChaosDB</a:t>
            </a:r>
            <a:r>
              <a:rPr lang="en-US" dirty="0"/>
              <a:t>" vulnerability in Microsoft Azure's Cosmos DB, which allowed unauthorized access to other users’ databases. This flaw could have been exploited to access sensitive data from competing businesses.</a:t>
            </a:r>
          </a:p>
          <a:p>
            <a:r>
              <a:rPr lang="en-US" dirty="0">
                <a:solidFill>
                  <a:srgbClr val="00B050"/>
                </a:solidFill>
              </a:rPr>
              <a:t>Key Concern: </a:t>
            </a:r>
            <a:r>
              <a:rPr lang="en-US" dirty="0"/>
              <a:t>The risk of data exposure due to vulnerabilities in the shared architecture of cloud services.</a:t>
            </a:r>
            <a:endParaRPr lang="en-PK" dirty="0"/>
          </a:p>
        </p:txBody>
      </p:sp>
    </p:spTree>
    <p:extLst>
      <p:ext uri="{BB962C8B-B14F-4D97-AF65-F5344CB8AC3E}">
        <p14:creationId xmlns:p14="http://schemas.microsoft.com/office/powerpoint/2010/main" val="3341435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Geography and Cloud Computing</a:t>
            </a:r>
          </a:p>
        </p:txBody>
      </p:sp>
      <p:sp>
        <p:nvSpPr>
          <p:cNvPr id="3" name="Content Placeholder 2"/>
          <p:cNvSpPr>
            <a:spLocks noGrp="1"/>
          </p:cNvSpPr>
          <p:nvPr>
            <p:ph idx="1"/>
          </p:nvPr>
        </p:nvSpPr>
        <p:spPr/>
        <p:txBody>
          <a:bodyPr>
            <a:normAutofit fontScale="85000" lnSpcReduction="10000"/>
          </a:bodyPr>
          <a:lstStyle/>
          <a:p>
            <a:r>
              <a:rPr lang="en-US" dirty="0"/>
              <a:t>Geopolitics is forcing significant changes on cloud-computing users and vendors</a:t>
            </a:r>
          </a:p>
          <a:p>
            <a:r>
              <a:rPr lang="en-US" dirty="0"/>
              <a:t>Firstly, there is the issue of latency: if the application is coming from a data center on the other side of the planet, or on the other side of a congested network, then you might find it sluggish compared to a local connection</a:t>
            </a:r>
          </a:p>
          <a:p>
            <a:r>
              <a:rPr lang="en-US" dirty="0"/>
              <a:t>Secondly, there is the issue of </a:t>
            </a:r>
            <a:r>
              <a:rPr lang="en-US" dirty="0">
                <a:solidFill>
                  <a:srgbClr val="FF0000"/>
                </a:solidFill>
              </a:rPr>
              <a:t>Data sovereignty </a:t>
            </a:r>
          </a:p>
          <a:p>
            <a:r>
              <a:rPr lang="en-US" dirty="0"/>
              <a:t>Data sovereignty is the concept that information which has been converted and stored in binary digital form is subject to the laws of the country in which it is located</a:t>
            </a:r>
          </a:p>
        </p:txBody>
      </p:sp>
    </p:spTree>
    <p:extLst>
      <p:ext uri="{BB962C8B-B14F-4D97-AF65-F5344CB8AC3E}">
        <p14:creationId xmlns:p14="http://schemas.microsoft.com/office/powerpoint/2010/main" val="3404700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638800"/>
          </a:xfrm>
        </p:spPr>
        <p:txBody>
          <a:bodyPr>
            <a:normAutofit fontScale="92500" lnSpcReduction="10000"/>
          </a:bodyPr>
          <a:lstStyle/>
          <a:p>
            <a:r>
              <a:rPr lang="en-US" dirty="0"/>
              <a:t>Many companies, particularly in Europe, have to worry about where their data is being processed and stored</a:t>
            </a:r>
          </a:p>
          <a:p>
            <a:r>
              <a:rPr lang="en-US" dirty="0"/>
              <a:t>European companies are worried that, for example, if their customer data is being stored in data centers in the US or (owned by US companies), it could be accessed by US law enforcement</a:t>
            </a:r>
          </a:p>
          <a:p>
            <a:r>
              <a:rPr lang="en-US" dirty="0"/>
              <a:t>As a result, the big cloud vendors have been building out a regional data center network so that organizations can keep their data in their own region.</a:t>
            </a:r>
          </a:p>
        </p:txBody>
      </p:sp>
    </p:spTree>
    <p:extLst>
      <p:ext uri="{BB962C8B-B14F-4D97-AF65-F5344CB8AC3E}">
        <p14:creationId xmlns:p14="http://schemas.microsoft.com/office/powerpoint/2010/main" val="1930103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accent1"/>
                </a:solidFill>
              </a:rPr>
              <a:t>Cloud-computing region?  availability zone?</a:t>
            </a:r>
          </a:p>
        </p:txBody>
      </p:sp>
      <p:sp>
        <p:nvSpPr>
          <p:cNvPr id="3" name="Content Placeholder 2"/>
          <p:cNvSpPr>
            <a:spLocks noGrp="1"/>
          </p:cNvSpPr>
          <p:nvPr>
            <p:ph idx="1"/>
          </p:nvPr>
        </p:nvSpPr>
        <p:spPr/>
        <p:txBody>
          <a:bodyPr>
            <a:normAutofit lnSpcReduction="10000"/>
          </a:bodyPr>
          <a:lstStyle/>
          <a:p>
            <a:r>
              <a:rPr lang="en-US" dirty="0"/>
              <a:t>Cloud-computing services are operated from giant datacenters around the world</a:t>
            </a:r>
          </a:p>
          <a:p>
            <a:r>
              <a:rPr lang="en-US" dirty="0"/>
              <a:t>Cloud service vendors often divides these datacenters by '</a:t>
            </a:r>
            <a:r>
              <a:rPr lang="en-US" dirty="0">
                <a:solidFill>
                  <a:srgbClr val="FF0000"/>
                </a:solidFill>
              </a:rPr>
              <a:t>regions</a:t>
            </a:r>
            <a:r>
              <a:rPr lang="en-US" dirty="0"/>
              <a:t>' and '</a:t>
            </a:r>
            <a:r>
              <a:rPr lang="en-US" dirty="0">
                <a:solidFill>
                  <a:srgbClr val="FF0000"/>
                </a:solidFill>
              </a:rPr>
              <a:t>availability zones</a:t>
            </a:r>
            <a:r>
              <a:rPr lang="en-US" dirty="0"/>
              <a:t>‘</a:t>
            </a:r>
          </a:p>
          <a:p>
            <a:r>
              <a:rPr lang="en-US" dirty="0"/>
              <a:t>Each region is a separate geographic area, like EU (London) or US West (Oregon), which then further subdivides into what it calls availability zones (AZs)</a:t>
            </a:r>
          </a:p>
          <a:p>
            <a:endParaRPr lang="en-US" dirty="0"/>
          </a:p>
        </p:txBody>
      </p:sp>
    </p:spTree>
    <p:extLst>
      <p:ext uri="{BB962C8B-B14F-4D97-AF65-F5344CB8AC3E}">
        <p14:creationId xmlns:p14="http://schemas.microsoft.com/office/powerpoint/2010/main" val="1730893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accent1"/>
                </a:solidFill>
              </a:rPr>
              <a:t>Cloud-computing region?  availability zone?</a:t>
            </a:r>
          </a:p>
        </p:txBody>
      </p:sp>
      <p:sp>
        <p:nvSpPr>
          <p:cNvPr id="3" name="Content Placeholder 2"/>
          <p:cNvSpPr>
            <a:spLocks noGrp="1"/>
          </p:cNvSpPr>
          <p:nvPr>
            <p:ph idx="1"/>
          </p:nvPr>
        </p:nvSpPr>
        <p:spPr/>
        <p:txBody>
          <a:bodyPr/>
          <a:lstStyle/>
          <a:p>
            <a:r>
              <a:rPr lang="en-US" dirty="0"/>
              <a:t>An AZ is composed of one or more datacenters that are far enough apart that in theory a single disaster won't take both offline, but close enough together for business continuity applications that require rapid failover</a:t>
            </a:r>
          </a:p>
          <a:p>
            <a:r>
              <a:rPr lang="en-US" dirty="0"/>
              <a:t>Each AZ has multiple internet connections and power connections to multiple grids</a:t>
            </a:r>
          </a:p>
        </p:txBody>
      </p:sp>
    </p:spTree>
    <p:extLst>
      <p:ext uri="{BB962C8B-B14F-4D97-AF65-F5344CB8AC3E}">
        <p14:creationId xmlns:p14="http://schemas.microsoft.com/office/powerpoint/2010/main" val="2884506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95600"/>
            <a:ext cx="8229600" cy="1143000"/>
          </a:xfrm>
        </p:spPr>
        <p:txBody>
          <a:bodyPr>
            <a:normAutofit/>
          </a:bodyPr>
          <a:lstStyle/>
          <a:p>
            <a:r>
              <a:rPr lang="en-US" dirty="0">
                <a:solidFill>
                  <a:schemeClr val="accent1"/>
                </a:solidFill>
              </a:rPr>
              <a:t>Cloud computing model NIST</a:t>
            </a:r>
          </a:p>
        </p:txBody>
      </p:sp>
    </p:spTree>
    <p:extLst>
      <p:ext uri="{BB962C8B-B14F-4D97-AF65-F5344CB8AC3E}">
        <p14:creationId xmlns:p14="http://schemas.microsoft.com/office/powerpoint/2010/main" val="2534350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solidFill>
              </a:rPr>
              <a:t>Cloud computing model NIST</a:t>
            </a:r>
          </a:p>
        </p:txBody>
      </p:sp>
      <p:sp>
        <p:nvSpPr>
          <p:cNvPr id="3" name="Content Placeholder 2"/>
          <p:cNvSpPr>
            <a:spLocks noGrp="1"/>
          </p:cNvSpPr>
          <p:nvPr>
            <p:ph idx="1"/>
          </p:nvPr>
        </p:nvSpPr>
        <p:spPr/>
        <p:txBody>
          <a:bodyPr>
            <a:normAutofit fontScale="92500"/>
          </a:bodyPr>
          <a:lstStyle/>
          <a:p>
            <a:r>
              <a:rPr lang="en-US" dirty="0"/>
              <a:t>According to the </a:t>
            </a:r>
            <a:r>
              <a:rPr lang="en-US" dirty="0">
                <a:solidFill>
                  <a:srgbClr val="FF0000"/>
                </a:solidFill>
              </a:rPr>
              <a:t>National Institute of Standards and Technologies (NIST) </a:t>
            </a:r>
          </a:p>
          <a:p>
            <a:pPr marL="0" indent="0" algn="just">
              <a:buNone/>
            </a:pPr>
            <a:r>
              <a:rPr lang="en-US" i="1" dirty="0"/>
              <a:t>cloud computing is a model for enabling ubiquitous, convenient, on-demand network access to a shared pool of configurable computing resources (networks, servers, storage, applications, and services) that can be rapidly provisioned and released with minimal management effort or service provider interaction</a:t>
            </a:r>
          </a:p>
        </p:txBody>
      </p:sp>
    </p:spTree>
    <p:extLst>
      <p:ext uri="{BB962C8B-B14F-4D97-AF65-F5344CB8AC3E}">
        <p14:creationId xmlns:p14="http://schemas.microsoft.com/office/powerpoint/2010/main" val="1819826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B050"/>
                </a:solidFill>
              </a:rPr>
              <a:t>This cloud model is composed of five essential characteristics:</a:t>
            </a:r>
          </a:p>
        </p:txBody>
      </p:sp>
      <p:sp>
        <p:nvSpPr>
          <p:cNvPr id="3" name="Content Placeholder 2"/>
          <p:cNvSpPr>
            <a:spLocks noGrp="1"/>
          </p:cNvSpPr>
          <p:nvPr>
            <p:ph idx="1"/>
          </p:nvPr>
        </p:nvSpPr>
        <p:spPr/>
        <p:txBody>
          <a:bodyPr>
            <a:normAutofit/>
          </a:bodyPr>
          <a:lstStyle/>
          <a:p>
            <a:pPr marL="514350" indent="-514350">
              <a:buFont typeface="+mj-lt"/>
              <a:buAutoNum type="arabicPeriod"/>
            </a:pPr>
            <a:endParaRPr lang="en-US" dirty="0"/>
          </a:p>
          <a:p>
            <a:pPr marL="514350" indent="-514350">
              <a:buFont typeface="+mj-lt"/>
              <a:buAutoNum type="arabicPeriod"/>
            </a:pPr>
            <a:r>
              <a:rPr lang="en-US" dirty="0"/>
              <a:t>Broad network access</a:t>
            </a:r>
          </a:p>
          <a:p>
            <a:pPr marL="514350" indent="-514350">
              <a:buFont typeface="+mj-lt"/>
              <a:buAutoNum type="arabicPeriod"/>
            </a:pPr>
            <a:r>
              <a:rPr lang="en-US" dirty="0"/>
              <a:t>On-demand self-service</a:t>
            </a:r>
          </a:p>
          <a:p>
            <a:pPr marL="514350" indent="-514350">
              <a:buFont typeface="+mj-lt"/>
              <a:buAutoNum type="arabicPeriod"/>
            </a:pPr>
            <a:r>
              <a:rPr lang="en-US" dirty="0"/>
              <a:t>Resource pooling</a:t>
            </a:r>
          </a:p>
          <a:p>
            <a:pPr marL="514350" indent="-514350">
              <a:buFont typeface="+mj-lt"/>
              <a:buAutoNum type="arabicPeriod"/>
            </a:pPr>
            <a:r>
              <a:rPr lang="en-US" dirty="0"/>
              <a:t>Rapid elasticity</a:t>
            </a:r>
          </a:p>
          <a:p>
            <a:pPr marL="514350" indent="-514350">
              <a:buFont typeface="+mj-lt"/>
              <a:buAutoNum type="arabicPeriod"/>
            </a:pPr>
            <a:r>
              <a:rPr lang="en-US" dirty="0"/>
              <a:t>Measured Service</a:t>
            </a:r>
          </a:p>
          <a:p>
            <a:endParaRPr lang="en-US" dirty="0"/>
          </a:p>
        </p:txBody>
      </p:sp>
    </p:spTree>
    <p:extLst>
      <p:ext uri="{BB962C8B-B14F-4D97-AF65-F5344CB8AC3E}">
        <p14:creationId xmlns:p14="http://schemas.microsoft.com/office/powerpoint/2010/main" val="333079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324600"/>
          </a:xfrm>
        </p:spPr>
        <p:txBody>
          <a:bodyPr>
            <a:normAutofit fontScale="92500" lnSpcReduction="10000"/>
          </a:bodyPr>
          <a:lstStyle/>
          <a:p>
            <a:r>
              <a:rPr lang="en-US" i="1" dirty="0">
                <a:solidFill>
                  <a:srgbClr val="FF0000"/>
                </a:solidFill>
              </a:rPr>
              <a:t>Broad network access: </a:t>
            </a:r>
            <a:r>
              <a:rPr lang="en-US" dirty="0"/>
              <a:t>Cloud services are accessible over the network and can be reached using standard mechanisms. This characteristic emphasizes that cloud resources are available over the internet and can be accessed from a variety of devices, including laptops, tablets, and smartphones. This broad network access supports the flexibility and mobility of users, allowing them to work from virtually anywhere </a:t>
            </a:r>
          </a:p>
          <a:p>
            <a:r>
              <a:rPr lang="en-US" dirty="0">
                <a:solidFill>
                  <a:srgbClr val="FF0000"/>
                </a:solidFill>
              </a:rPr>
              <a:t>On-demand self-service</a:t>
            </a:r>
            <a:r>
              <a:rPr lang="en-US" dirty="0"/>
              <a:t>: On-demand self-service means that users can provision computing resources such as server time and network storage automatically without requiring human interaction with each service provider. </a:t>
            </a:r>
          </a:p>
        </p:txBody>
      </p:sp>
    </p:spTree>
    <p:extLst>
      <p:ext uri="{BB962C8B-B14F-4D97-AF65-F5344CB8AC3E}">
        <p14:creationId xmlns:p14="http://schemas.microsoft.com/office/powerpoint/2010/main" val="2108146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81000"/>
            <a:ext cx="8229600" cy="6019800"/>
          </a:xfrm>
        </p:spPr>
        <p:txBody>
          <a:bodyPr>
            <a:normAutofit fontScale="85000" lnSpcReduction="10000"/>
          </a:bodyPr>
          <a:lstStyle/>
          <a:p>
            <a:r>
              <a:rPr lang="en-US" dirty="0">
                <a:solidFill>
                  <a:srgbClr val="FF0000"/>
                </a:solidFill>
              </a:rPr>
              <a:t>Resource pooling: </a:t>
            </a:r>
            <a:r>
              <a:rPr lang="en-US" dirty="0"/>
              <a:t>Service multiple customers from the same physical resources, by securely separating the resources on logical level. To the consumer, the capabilities available for provisioning often appear to be unlimited and can be appropriated in any quantity at any time</a:t>
            </a:r>
          </a:p>
          <a:p>
            <a:endParaRPr lang="en-US" dirty="0">
              <a:solidFill>
                <a:srgbClr val="FF0000"/>
              </a:solidFill>
            </a:endParaRPr>
          </a:p>
          <a:p>
            <a:r>
              <a:rPr lang="en-US" dirty="0">
                <a:solidFill>
                  <a:srgbClr val="FF0000"/>
                </a:solidFill>
              </a:rPr>
              <a:t>Rapid elasticity: </a:t>
            </a:r>
            <a:r>
              <a:rPr lang="en-US" dirty="0"/>
              <a:t>Resources are provisioned and released on-demand and/or automated based on triggers or parameters. This will make sure your application will have exactly the capacity it needs at any point of time.  </a:t>
            </a:r>
            <a:endParaRPr lang="en-US" dirty="0">
              <a:solidFill>
                <a:srgbClr val="FF0000"/>
              </a:solidFill>
            </a:endParaRPr>
          </a:p>
          <a:p>
            <a:r>
              <a:rPr lang="en-US" dirty="0">
                <a:solidFill>
                  <a:srgbClr val="FF0000"/>
                </a:solidFill>
              </a:rPr>
              <a:t>Measured service: </a:t>
            </a:r>
            <a:r>
              <a:rPr lang="en-US" dirty="0"/>
              <a:t>Resource usage are monitored, measured, and reported (billed) transparently based on utilization. In short, pay per use.</a:t>
            </a:r>
            <a:endParaRPr lang="en-US" i="1" dirty="0">
              <a:solidFill>
                <a:srgbClr val="FF0000"/>
              </a:solidFill>
            </a:endParaRPr>
          </a:p>
          <a:p>
            <a:endParaRPr lang="en-US" i="1" dirty="0">
              <a:solidFill>
                <a:srgbClr val="FF0000"/>
              </a:solidFill>
            </a:endParaRPr>
          </a:p>
          <a:p>
            <a:endParaRPr lang="en-US" dirty="0"/>
          </a:p>
        </p:txBody>
      </p:sp>
    </p:spTree>
    <p:extLst>
      <p:ext uri="{BB962C8B-B14F-4D97-AF65-F5344CB8AC3E}">
        <p14:creationId xmlns:p14="http://schemas.microsoft.com/office/powerpoint/2010/main" val="8995329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95600"/>
            <a:ext cx="8229600" cy="1143000"/>
          </a:xfrm>
        </p:spPr>
        <p:txBody>
          <a:bodyPr>
            <a:normAutofit/>
          </a:bodyPr>
          <a:lstStyle/>
          <a:p>
            <a:r>
              <a:rPr lang="en-US" dirty="0">
                <a:solidFill>
                  <a:schemeClr val="accent1"/>
                </a:solidFill>
              </a:rPr>
              <a:t>Cloud Enabling Technologies</a:t>
            </a:r>
          </a:p>
        </p:txBody>
      </p:sp>
    </p:spTree>
    <p:extLst>
      <p:ext uri="{BB962C8B-B14F-4D97-AF65-F5344CB8AC3E}">
        <p14:creationId xmlns:p14="http://schemas.microsoft.com/office/powerpoint/2010/main" val="1088028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Cloud Enabling Technologies</a:t>
            </a:r>
          </a:p>
        </p:txBody>
      </p:sp>
      <p:sp>
        <p:nvSpPr>
          <p:cNvPr id="3" name="Content Placeholder 2"/>
          <p:cNvSpPr>
            <a:spLocks noGrp="1"/>
          </p:cNvSpPr>
          <p:nvPr>
            <p:ph idx="1"/>
          </p:nvPr>
        </p:nvSpPr>
        <p:spPr/>
        <p:txBody>
          <a:bodyPr/>
          <a:lstStyle/>
          <a:p>
            <a:r>
              <a:rPr lang="en-US" dirty="0"/>
              <a:t>Broadband networks and internet architecture </a:t>
            </a:r>
          </a:p>
          <a:p>
            <a:r>
              <a:rPr lang="en-US" dirty="0"/>
              <a:t>Virtualization technology </a:t>
            </a:r>
          </a:p>
          <a:p>
            <a:r>
              <a:rPr lang="en-US" dirty="0"/>
              <a:t>SOA</a:t>
            </a:r>
          </a:p>
          <a:p>
            <a:r>
              <a:rPr lang="en-US" dirty="0"/>
              <a:t>Web Services  , Web 2.0,3.0</a:t>
            </a:r>
          </a:p>
          <a:p>
            <a:r>
              <a:rPr lang="en-US" dirty="0"/>
              <a:t>Multitenant technology </a:t>
            </a:r>
            <a:br>
              <a:rPr lang="en-US" dirty="0"/>
            </a:br>
            <a:endParaRPr lang="en-US" dirty="0"/>
          </a:p>
        </p:txBody>
      </p:sp>
    </p:spTree>
    <p:extLst>
      <p:ext uri="{BB962C8B-B14F-4D97-AF65-F5344CB8AC3E}">
        <p14:creationId xmlns:p14="http://schemas.microsoft.com/office/powerpoint/2010/main" val="35698321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accent1"/>
                </a:solidFill>
              </a:rPr>
              <a:t>Broadband networks &amp; Internet architecture </a:t>
            </a:r>
          </a:p>
        </p:txBody>
      </p:sp>
      <p:sp>
        <p:nvSpPr>
          <p:cNvPr id="3" name="Content Placeholder 2"/>
          <p:cNvSpPr>
            <a:spLocks noGrp="1"/>
          </p:cNvSpPr>
          <p:nvPr>
            <p:ph idx="1"/>
          </p:nvPr>
        </p:nvSpPr>
        <p:spPr/>
        <p:txBody>
          <a:bodyPr>
            <a:normAutofit/>
          </a:bodyPr>
          <a:lstStyle/>
          <a:p>
            <a:r>
              <a:rPr lang="en-US" dirty="0"/>
              <a:t>All cloud’s resources must be connected to a network</a:t>
            </a:r>
          </a:p>
          <a:p>
            <a:r>
              <a:rPr lang="en-US" dirty="0"/>
              <a:t>This inevitable requirement forms an inherent dependency on internetworking. </a:t>
            </a:r>
          </a:p>
          <a:p>
            <a:r>
              <a:rPr lang="en-US" dirty="0"/>
              <a:t>Internetworks, or the Internet, allow for the remote provisioning of IT resources and are directly supportive of ubiquitous network access.</a:t>
            </a:r>
          </a:p>
        </p:txBody>
      </p:sp>
    </p:spTree>
    <p:extLst>
      <p:ext uri="{BB962C8B-B14F-4D97-AF65-F5344CB8AC3E}">
        <p14:creationId xmlns:p14="http://schemas.microsoft.com/office/powerpoint/2010/main" val="17897811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5CCF8-462B-08C9-640C-C7C7DCE799AF}"/>
              </a:ext>
            </a:extLst>
          </p:cNvPr>
          <p:cNvSpPr>
            <a:spLocks noGrp="1"/>
          </p:cNvSpPr>
          <p:nvPr>
            <p:ph type="title"/>
          </p:nvPr>
        </p:nvSpPr>
        <p:spPr/>
        <p:txBody>
          <a:bodyPr>
            <a:normAutofit fontScale="90000"/>
          </a:bodyPr>
          <a:lstStyle/>
          <a:p>
            <a:r>
              <a:rPr lang="en-US" dirty="0">
                <a:solidFill>
                  <a:schemeClr val="accent1"/>
                </a:solidFill>
              </a:rPr>
              <a:t>Internet Service Providers (ISPs) </a:t>
            </a:r>
            <a:br>
              <a:rPr lang="en-US" dirty="0">
                <a:solidFill>
                  <a:schemeClr val="accent1"/>
                </a:solidFill>
              </a:rPr>
            </a:br>
            <a:endParaRPr lang="en-PK" dirty="0">
              <a:solidFill>
                <a:schemeClr val="accent1"/>
              </a:solidFill>
            </a:endParaRPr>
          </a:p>
        </p:txBody>
      </p:sp>
      <p:sp>
        <p:nvSpPr>
          <p:cNvPr id="3" name="Content Placeholder 2">
            <a:extLst>
              <a:ext uri="{FF2B5EF4-FFF2-40B4-BE49-F238E27FC236}">
                <a16:creationId xmlns:a16="http://schemas.microsoft.com/office/drawing/2014/main" id="{7DD82984-1802-F60F-77A9-AD76F89D4080}"/>
              </a:ext>
            </a:extLst>
          </p:cNvPr>
          <p:cNvSpPr>
            <a:spLocks noGrp="1"/>
          </p:cNvSpPr>
          <p:nvPr>
            <p:ph idx="1"/>
          </p:nvPr>
        </p:nvSpPr>
        <p:spPr/>
        <p:txBody>
          <a:bodyPr/>
          <a:lstStyle/>
          <a:p>
            <a:r>
              <a:rPr lang="en-US" dirty="0"/>
              <a:t>Established and deployed by ISPs, the Internet's largest backbone networks are strategically interconnected by core routers that connect the world's multinational networks.</a:t>
            </a:r>
            <a:endParaRPr lang="en-PK" dirty="0"/>
          </a:p>
        </p:txBody>
      </p:sp>
    </p:spTree>
    <p:extLst>
      <p:ext uri="{BB962C8B-B14F-4D97-AF65-F5344CB8AC3E}">
        <p14:creationId xmlns:p14="http://schemas.microsoft.com/office/powerpoint/2010/main" val="936263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27996"/>
            <a:ext cx="6176963" cy="6595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8513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0B6D25D-6C12-D03A-BBF3-D0E27AA948F5}"/>
              </a:ext>
            </a:extLst>
          </p:cNvPr>
          <p:cNvSpPr>
            <a:spLocks noGrp="1"/>
          </p:cNvSpPr>
          <p:nvPr>
            <p:ph idx="1"/>
          </p:nvPr>
        </p:nvSpPr>
        <p:spPr>
          <a:xfrm>
            <a:off x="304800" y="228600"/>
            <a:ext cx="8686800" cy="6629400"/>
          </a:xfrm>
        </p:spPr>
        <p:txBody>
          <a:bodyPr>
            <a:normAutofit fontScale="92500" lnSpcReduction="10000"/>
          </a:bodyPr>
          <a:lstStyle/>
          <a:p>
            <a:pPr>
              <a:lnSpc>
                <a:spcPct val="107000"/>
              </a:lnSpc>
              <a:spcAft>
                <a:spcPts val="800"/>
              </a:spcAft>
            </a:pPr>
            <a:r>
              <a:rPr lang="en-PK" sz="2400" kern="1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Cloud Consumer Network</a:t>
            </a:r>
            <a:r>
              <a:rPr lang="en-PK" sz="2400" kern="100" dirty="0">
                <a:effectLst/>
                <a:latin typeface="Calibri" panose="020F0502020204030204" pitchFamily="34" charset="0"/>
                <a:ea typeface="Calibri" panose="020F0502020204030204" pitchFamily="34" charset="0"/>
                <a:cs typeface="Times New Roman" panose="02020603050405020304" pitchFamily="18" charset="0"/>
              </a:rPr>
              <a:t>: At the top, there's a network representing cloud consumers, which includes multiple servers and devices connected via routers. This part of the network serves the end-users who consume cloud services.</a:t>
            </a:r>
          </a:p>
          <a:p>
            <a:pPr>
              <a:lnSpc>
                <a:spcPct val="107000"/>
              </a:lnSpc>
              <a:spcAft>
                <a:spcPts val="800"/>
              </a:spcAft>
            </a:pPr>
            <a:r>
              <a:rPr lang="en-PK" sz="2400" kern="1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External User: </a:t>
            </a:r>
            <a:r>
              <a:rPr lang="en-PK" sz="2400" kern="100" dirty="0">
                <a:effectLst/>
                <a:latin typeface="Calibri" panose="020F0502020204030204" pitchFamily="34" charset="0"/>
                <a:ea typeface="Calibri" panose="020F0502020204030204" pitchFamily="34" charset="0"/>
                <a:cs typeface="Times New Roman" panose="02020603050405020304" pitchFamily="18" charset="0"/>
              </a:rPr>
              <a:t>A single external user is shown connecting to the network, probably representing a remote user accessing cloud services.</a:t>
            </a:r>
          </a:p>
          <a:p>
            <a:pPr>
              <a:lnSpc>
                <a:spcPct val="107000"/>
              </a:lnSpc>
              <a:spcAft>
                <a:spcPts val="800"/>
              </a:spcAft>
            </a:pPr>
            <a:r>
              <a:rPr lang="en-PK" sz="2400" kern="1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Backbone ISP</a:t>
            </a:r>
            <a:r>
              <a:rPr lang="en-PK" sz="2400" kern="100" dirty="0">
                <a:effectLst/>
                <a:latin typeface="Calibri" panose="020F0502020204030204" pitchFamily="34" charset="0"/>
                <a:ea typeface="Calibri" panose="020F0502020204030204" pitchFamily="34" charset="0"/>
                <a:cs typeface="Times New Roman" panose="02020603050405020304" pitchFamily="18" charset="0"/>
              </a:rPr>
              <a:t>: The central part of the diagram shows a backbone Internet Service Provider (ISP) that connects various parts of the network. This backbone ISP facilitates data transmission across different networks, providing the necessary bandwidth.</a:t>
            </a:r>
          </a:p>
          <a:p>
            <a:pPr>
              <a:lnSpc>
                <a:spcPct val="107000"/>
              </a:lnSpc>
              <a:spcAft>
                <a:spcPts val="800"/>
              </a:spcAft>
            </a:pPr>
            <a:r>
              <a:rPr lang="en-PK" sz="2400" kern="1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ISP (Cloud Carrier): </a:t>
            </a:r>
            <a:r>
              <a:rPr lang="en-PK" sz="2400" kern="100" dirty="0">
                <a:effectLst/>
                <a:latin typeface="Calibri" panose="020F0502020204030204" pitchFamily="34" charset="0"/>
                <a:ea typeface="Calibri" panose="020F0502020204030204" pitchFamily="34" charset="0"/>
                <a:cs typeface="Times New Roman" panose="02020603050405020304" pitchFamily="18" charset="0"/>
              </a:rPr>
              <a:t>There are multiple ISPs </a:t>
            </a:r>
            <a:r>
              <a:rPr lang="en-PK" sz="2400" kern="100" dirty="0" err="1">
                <a:effectLst/>
                <a:latin typeface="Calibri" panose="020F0502020204030204" pitchFamily="34" charset="0"/>
                <a:ea typeface="Calibri" panose="020F0502020204030204" pitchFamily="34" charset="0"/>
                <a:cs typeface="Times New Roman" panose="02020603050405020304" pitchFamily="18" charset="0"/>
              </a:rPr>
              <a:t>labeled</a:t>
            </a:r>
            <a:r>
              <a:rPr lang="en-PK" sz="2400" kern="100" dirty="0">
                <a:effectLst/>
                <a:latin typeface="Calibri" panose="020F0502020204030204" pitchFamily="34" charset="0"/>
                <a:ea typeface="Calibri" panose="020F0502020204030204" pitchFamily="34" charset="0"/>
                <a:cs typeface="Times New Roman" panose="02020603050405020304" pitchFamily="18" charset="0"/>
              </a:rPr>
              <a:t> as cloud carriers. These ISPs are responsible for routing traffic between the cloud provider network and the cloud consumers, as well as the backbone ISP.</a:t>
            </a:r>
          </a:p>
          <a:p>
            <a:pPr>
              <a:lnSpc>
                <a:spcPct val="107000"/>
              </a:lnSpc>
              <a:spcAft>
                <a:spcPts val="800"/>
              </a:spcAft>
            </a:pPr>
            <a:r>
              <a:rPr lang="en-PK" sz="2400" kern="1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Cloud Provider Network: </a:t>
            </a:r>
            <a:r>
              <a:rPr lang="en-PK" sz="2400" kern="100" dirty="0">
                <a:effectLst/>
                <a:latin typeface="Calibri" panose="020F0502020204030204" pitchFamily="34" charset="0"/>
                <a:ea typeface="Calibri" panose="020F0502020204030204" pitchFamily="34" charset="0"/>
                <a:cs typeface="Times New Roman" panose="02020603050405020304" pitchFamily="18" charset="0"/>
              </a:rPr>
              <a:t>At the bottom, there's a cloud provider network, symbolized by a cloud with multiple servers (depicted as cubes or racks). This network hosts the cloud services and connects to the ISPs.</a:t>
            </a:r>
          </a:p>
          <a:p>
            <a:endParaRPr lang="en-PK" sz="3600" dirty="0"/>
          </a:p>
        </p:txBody>
      </p:sp>
    </p:spTree>
    <p:extLst>
      <p:ext uri="{BB962C8B-B14F-4D97-AF65-F5344CB8AC3E}">
        <p14:creationId xmlns:p14="http://schemas.microsoft.com/office/powerpoint/2010/main" val="88240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775F3-C5AF-00CC-7C7D-656893080BA6}"/>
              </a:ext>
            </a:extLst>
          </p:cNvPr>
          <p:cNvSpPr>
            <a:spLocks noGrp="1"/>
          </p:cNvSpPr>
          <p:nvPr>
            <p:ph type="title"/>
          </p:nvPr>
        </p:nvSpPr>
        <p:spPr/>
        <p:txBody>
          <a:bodyPr>
            <a:normAutofit fontScale="90000"/>
          </a:bodyPr>
          <a:lstStyle/>
          <a:p>
            <a:r>
              <a:rPr lang="en-US" dirty="0">
                <a:solidFill>
                  <a:schemeClr val="accent1"/>
                </a:solidFill>
              </a:rPr>
              <a:t>Data Flow in the Cloud Network</a:t>
            </a:r>
            <a:br>
              <a:rPr lang="en-US" dirty="0">
                <a:solidFill>
                  <a:schemeClr val="accent1"/>
                </a:solidFill>
              </a:rPr>
            </a:br>
            <a:r>
              <a:rPr lang="en-US" sz="3100" dirty="0">
                <a:solidFill>
                  <a:schemeClr val="accent1"/>
                </a:solidFill>
              </a:rPr>
              <a:t>From Cloud Consumers to Cloud Services</a:t>
            </a:r>
            <a:endParaRPr lang="en-PK" dirty="0">
              <a:solidFill>
                <a:schemeClr val="accent1"/>
              </a:solidFill>
            </a:endParaRPr>
          </a:p>
        </p:txBody>
      </p:sp>
      <p:sp>
        <p:nvSpPr>
          <p:cNvPr id="3" name="Content Placeholder 2">
            <a:extLst>
              <a:ext uri="{FF2B5EF4-FFF2-40B4-BE49-F238E27FC236}">
                <a16:creationId xmlns:a16="http://schemas.microsoft.com/office/drawing/2014/main" id="{EAFAE8C1-E4F9-0662-5B72-084E4A0BC6BE}"/>
              </a:ext>
            </a:extLst>
          </p:cNvPr>
          <p:cNvSpPr>
            <a:spLocks noGrp="1"/>
          </p:cNvSpPr>
          <p:nvPr>
            <p:ph idx="1"/>
          </p:nvPr>
        </p:nvSpPr>
        <p:spPr>
          <a:xfrm>
            <a:off x="457200" y="1600200"/>
            <a:ext cx="8229600" cy="5257800"/>
          </a:xfrm>
        </p:spPr>
        <p:txBody>
          <a:bodyPr>
            <a:normAutofit lnSpcReduction="10000"/>
          </a:bodyPr>
          <a:lstStyle/>
          <a:p>
            <a:pPr>
              <a:lnSpc>
                <a:spcPct val="107000"/>
              </a:lnSpc>
              <a:spcAft>
                <a:spcPts val="800"/>
              </a:spcAft>
            </a:pPr>
            <a:r>
              <a:rPr lang="en-PK" sz="2400" kern="1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Initial Request: </a:t>
            </a:r>
            <a:r>
              <a:rPr lang="en-PK" sz="2400" kern="100" dirty="0">
                <a:effectLst/>
                <a:latin typeface="Calibri" panose="020F0502020204030204" pitchFamily="34" charset="0"/>
                <a:ea typeface="Calibri" panose="020F0502020204030204" pitchFamily="34" charset="0"/>
                <a:cs typeface="Times New Roman" panose="02020603050405020304" pitchFamily="18" charset="0"/>
              </a:rPr>
              <a:t>A cloud consumer initiates a request (e.g., accessing a web application hosted in the cloud).</a:t>
            </a:r>
          </a:p>
          <a:p>
            <a:pPr>
              <a:lnSpc>
                <a:spcPct val="107000"/>
              </a:lnSpc>
              <a:spcAft>
                <a:spcPts val="800"/>
              </a:spcAft>
            </a:pPr>
            <a:r>
              <a:rPr lang="en-PK" sz="2400" kern="1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Routing Through ISP: </a:t>
            </a:r>
            <a:r>
              <a:rPr lang="en-PK" sz="2400" kern="100" dirty="0">
                <a:effectLst/>
                <a:latin typeface="Calibri" panose="020F0502020204030204" pitchFamily="34" charset="0"/>
                <a:ea typeface="Calibri" panose="020F0502020204030204" pitchFamily="34" charset="0"/>
                <a:cs typeface="Times New Roman" panose="02020603050405020304" pitchFamily="18" charset="0"/>
              </a:rPr>
              <a:t>The request is routed through the cloud consumer’s network and is passed on to the nearest ISP (Cloud Carrier).</a:t>
            </a:r>
          </a:p>
          <a:p>
            <a:pPr>
              <a:lnSpc>
                <a:spcPct val="107000"/>
              </a:lnSpc>
              <a:spcAft>
                <a:spcPts val="800"/>
              </a:spcAft>
            </a:pPr>
            <a:r>
              <a:rPr lang="en-PK" sz="2400" kern="1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Backbone ISP Transmission: </a:t>
            </a:r>
            <a:r>
              <a:rPr lang="en-PK" sz="2400" kern="100" dirty="0">
                <a:effectLst/>
                <a:latin typeface="Calibri" panose="020F0502020204030204" pitchFamily="34" charset="0"/>
                <a:ea typeface="Calibri" panose="020F0502020204030204" pitchFamily="34" charset="0"/>
                <a:cs typeface="Times New Roman" panose="02020603050405020304" pitchFamily="18" charset="0"/>
              </a:rPr>
              <a:t>The cloud carrier transmits the request via the backbone ISP, which may pass through multiple routers and ISPs depending on the network path.</a:t>
            </a:r>
          </a:p>
          <a:p>
            <a:pPr>
              <a:lnSpc>
                <a:spcPct val="107000"/>
              </a:lnSpc>
              <a:spcAft>
                <a:spcPts val="800"/>
              </a:spcAft>
            </a:pPr>
            <a:r>
              <a:rPr lang="en-PK" sz="2400" kern="1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Cloud Provider Network Reception: </a:t>
            </a:r>
            <a:r>
              <a:rPr lang="en-PK" sz="2400" kern="100" dirty="0">
                <a:effectLst/>
                <a:latin typeface="Calibri" panose="020F0502020204030204" pitchFamily="34" charset="0"/>
                <a:ea typeface="Calibri" panose="020F0502020204030204" pitchFamily="34" charset="0"/>
                <a:cs typeface="Times New Roman" panose="02020603050405020304" pitchFamily="18" charset="0"/>
              </a:rPr>
              <a:t>The request finally reaches the cloud provider's network, where it is processed, and the requested service or data is delivered back to the consumer through the same path in reverse.</a:t>
            </a:r>
          </a:p>
        </p:txBody>
      </p:sp>
    </p:spTree>
    <p:extLst>
      <p:ext uri="{BB962C8B-B14F-4D97-AF65-F5344CB8AC3E}">
        <p14:creationId xmlns:p14="http://schemas.microsoft.com/office/powerpoint/2010/main" val="36539234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CC981-9BF0-BA5E-7CE5-24DFE764DB27}"/>
              </a:ext>
            </a:extLst>
          </p:cNvPr>
          <p:cNvSpPr>
            <a:spLocks noGrp="1"/>
          </p:cNvSpPr>
          <p:nvPr>
            <p:ph type="title"/>
          </p:nvPr>
        </p:nvSpPr>
        <p:spPr/>
        <p:txBody>
          <a:bodyPr/>
          <a:lstStyle/>
          <a:p>
            <a:r>
              <a:rPr lang="en-US" dirty="0">
                <a:solidFill>
                  <a:schemeClr val="accent1"/>
                </a:solidFill>
              </a:rPr>
              <a:t>Cont.</a:t>
            </a:r>
            <a:endParaRPr lang="en-PK" dirty="0">
              <a:solidFill>
                <a:schemeClr val="accent1"/>
              </a:solidFill>
            </a:endParaRPr>
          </a:p>
        </p:txBody>
      </p:sp>
      <p:sp>
        <p:nvSpPr>
          <p:cNvPr id="3" name="Content Placeholder 2">
            <a:extLst>
              <a:ext uri="{FF2B5EF4-FFF2-40B4-BE49-F238E27FC236}">
                <a16:creationId xmlns:a16="http://schemas.microsoft.com/office/drawing/2014/main" id="{0268D45C-8F28-6E23-999A-6FF9A147DA5F}"/>
              </a:ext>
            </a:extLst>
          </p:cNvPr>
          <p:cNvSpPr>
            <a:spLocks noGrp="1"/>
          </p:cNvSpPr>
          <p:nvPr>
            <p:ph idx="1"/>
          </p:nvPr>
        </p:nvSpPr>
        <p:spPr/>
        <p:txBody>
          <a:bodyPr>
            <a:normAutofit fontScale="92500"/>
          </a:bodyPr>
          <a:lstStyle/>
          <a:p>
            <a:r>
              <a:rPr lang="en-US" dirty="0"/>
              <a:t>Worldwide connectivity is enabled through a hierarchical topology composed of Tiers 1, 2, and 3  </a:t>
            </a:r>
          </a:p>
          <a:p>
            <a:r>
              <a:rPr lang="en-US" dirty="0"/>
              <a:t>The core </a:t>
            </a:r>
            <a:r>
              <a:rPr lang="en-US" dirty="0">
                <a:solidFill>
                  <a:srgbClr val="FF0000"/>
                </a:solidFill>
              </a:rPr>
              <a:t>Tier 1 is made of large-scale, international cloud providers that oversee massive interconnected global networks</a:t>
            </a:r>
            <a:r>
              <a:rPr lang="en-US" dirty="0"/>
              <a:t>, which are connected to </a:t>
            </a:r>
            <a:r>
              <a:rPr lang="en-US" dirty="0">
                <a:solidFill>
                  <a:srgbClr val="FF0000"/>
                </a:solidFill>
              </a:rPr>
              <a:t>Tier 2's large regional providers</a:t>
            </a:r>
          </a:p>
          <a:p>
            <a:r>
              <a:rPr lang="en-US" dirty="0"/>
              <a:t>The interconnected ISPs of Tier 2 connect with Tier 1 providers, as well as the </a:t>
            </a:r>
            <a:r>
              <a:rPr lang="en-US" dirty="0">
                <a:solidFill>
                  <a:srgbClr val="FF0000"/>
                </a:solidFill>
              </a:rPr>
              <a:t>local ISPs of Tier 3. </a:t>
            </a:r>
            <a:endParaRPr lang="en-PK" dirty="0">
              <a:solidFill>
                <a:srgbClr val="FF0000"/>
              </a:solidFill>
            </a:endParaRPr>
          </a:p>
        </p:txBody>
      </p:sp>
    </p:spTree>
    <p:extLst>
      <p:ext uri="{BB962C8B-B14F-4D97-AF65-F5344CB8AC3E}">
        <p14:creationId xmlns:p14="http://schemas.microsoft.com/office/powerpoint/2010/main" val="28322543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9F243A-8E8B-7A53-A9E1-64329A1A8DD6}"/>
              </a:ext>
            </a:extLst>
          </p:cNvPr>
          <p:cNvPicPr>
            <a:picLocks noChangeAspect="1"/>
          </p:cNvPicPr>
          <p:nvPr/>
        </p:nvPicPr>
        <p:blipFill>
          <a:blip r:embed="rId2"/>
          <a:stretch>
            <a:fillRect/>
          </a:stretch>
        </p:blipFill>
        <p:spPr>
          <a:xfrm>
            <a:off x="228600" y="228600"/>
            <a:ext cx="4605867" cy="2590800"/>
          </a:xfrm>
          <a:prstGeom prst="rect">
            <a:avLst/>
          </a:prstGeom>
        </p:spPr>
      </p:pic>
      <p:pic>
        <p:nvPicPr>
          <p:cNvPr id="7" name="Picture 6">
            <a:extLst>
              <a:ext uri="{FF2B5EF4-FFF2-40B4-BE49-F238E27FC236}">
                <a16:creationId xmlns:a16="http://schemas.microsoft.com/office/drawing/2014/main" id="{407A1497-A834-A3FA-1A5A-D28C6341B4F9}"/>
              </a:ext>
            </a:extLst>
          </p:cNvPr>
          <p:cNvPicPr>
            <a:picLocks noChangeAspect="1"/>
          </p:cNvPicPr>
          <p:nvPr/>
        </p:nvPicPr>
        <p:blipFill>
          <a:blip r:embed="rId3"/>
          <a:stretch>
            <a:fillRect/>
          </a:stretch>
        </p:blipFill>
        <p:spPr>
          <a:xfrm>
            <a:off x="3352800" y="2971800"/>
            <a:ext cx="5409666" cy="3544056"/>
          </a:xfrm>
          <a:prstGeom prst="rect">
            <a:avLst/>
          </a:prstGeom>
        </p:spPr>
      </p:pic>
    </p:spTree>
    <p:extLst>
      <p:ext uri="{BB962C8B-B14F-4D97-AF65-F5344CB8AC3E}">
        <p14:creationId xmlns:p14="http://schemas.microsoft.com/office/powerpoint/2010/main" val="34117023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solidFill>
              </a:rPr>
              <a:t>Virtualization </a:t>
            </a:r>
          </a:p>
        </p:txBody>
      </p:sp>
      <p:sp>
        <p:nvSpPr>
          <p:cNvPr id="3" name="Content Placeholder 2"/>
          <p:cNvSpPr>
            <a:spLocks noGrp="1"/>
          </p:cNvSpPr>
          <p:nvPr>
            <p:ph idx="1"/>
          </p:nvPr>
        </p:nvSpPr>
        <p:spPr/>
        <p:txBody>
          <a:bodyPr/>
          <a:lstStyle/>
          <a:p>
            <a:r>
              <a:rPr lang="en-US" dirty="0"/>
              <a:t>Virtualization is a process of converting a physical IT resource into a virtual IT resource </a:t>
            </a:r>
          </a:p>
          <a:p>
            <a:r>
              <a:rPr lang="en-US" dirty="0"/>
              <a:t>Server</a:t>
            </a:r>
          </a:p>
          <a:p>
            <a:r>
              <a:rPr lang="en-US" dirty="0"/>
              <a:t>Virtual server ↔ virtual machine</a:t>
            </a:r>
          </a:p>
          <a:p>
            <a:r>
              <a:rPr lang="en-US" dirty="0"/>
              <a:t>Storage</a:t>
            </a:r>
          </a:p>
          <a:p>
            <a:r>
              <a:rPr lang="en-US" dirty="0"/>
              <a:t>Network</a:t>
            </a:r>
            <a:br>
              <a:rPr lang="en-US" dirty="0"/>
            </a:br>
            <a:endParaRPr lang="en-US" dirty="0"/>
          </a:p>
        </p:txBody>
      </p:sp>
    </p:spTree>
    <p:extLst>
      <p:ext uri="{BB962C8B-B14F-4D97-AF65-F5344CB8AC3E}">
        <p14:creationId xmlns:p14="http://schemas.microsoft.com/office/powerpoint/2010/main" val="40785578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127" y="1447800"/>
            <a:ext cx="8229600" cy="1143000"/>
          </a:xfrm>
        </p:spPr>
        <p:txBody>
          <a:bodyPr>
            <a:normAutofit/>
          </a:bodyPr>
          <a:lstStyle/>
          <a:p>
            <a:r>
              <a:rPr lang="en-US" dirty="0">
                <a:solidFill>
                  <a:srgbClr val="FF0000"/>
                </a:solidFill>
              </a:rPr>
              <a:t>SOA?</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7202" y="3124200"/>
            <a:ext cx="4743450" cy="3124200"/>
          </a:xfrm>
          <a:prstGeom prst="rect">
            <a:avLst/>
          </a:prstGeom>
        </p:spPr>
      </p:pic>
    </p:spTree>
    <p:extLst>
      <p:ext uri="{BB962C8B-B14F-4D97-AF65-F5344CB8AC3E}">
        <p14:creationId xmlns:p14="http://schemas.microsoft.com/office/powerpoint/2010/main" val="11175677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solidFill>
                  <a:schemeClr val="accent1"/>
                </a:solidFill>
              </a:rPr>
              <a:t>Case Study</a:t>
            </a:r>
            <a:endParaRPr lang="en-US" dirty="0">
              <a:solidFill>
                <a:schemeClr val="accent1"/>
              </a:solidFill>
            </a:endParaRPr>
          </a:p>
        </p:txBody>
      </p:sp>
      <p:sp>
        <p:nvSpPr>
          <p:cNvPr id="3" name="Content Placeholder 2"/>
          <p:cNvSpPr>
            <a:spLocks noGrp="1"/>
          </p:cNvSpPr>
          <p:nvPr>
            <p:ph idx="1"/>
          </p:nvPr>
        </p:nvSpPr>
        <p:spPr/>
        <p:txBody>
          <a:bodyPr>
            <a:normAutofit fontScale="92500" lnSpcReduction="20000"/>
          </a:bodyPr>
          <a:lstStyle/>
          <a:p>
            <a:pPr marL="0" indent="0">
              <a:buNone/>
            </a:pPr>
            <a:r>
              <a:rPr lang="en-US" b="1" i="1" dirty="0">
                <a:solidFill>
                  <a:srgbClr val="FF0000"/>
                </a:solidFill>
              </a:rPr>
              <a:t>Online Parking Ticket </a:t>
            </a:r>
          </a:p>
          <a:p>
            <a:r>
              <a:rPr lang="en-US" dirty="0"/>
              <a:t>Maps, Payments, User login &amp; Authentication </a:t>
            </a:r>
          </a:p>
          <a:p>
            <a:r>
              <a:rPr lang="en-US" dirty="0"/>
              <a:t>Maps - Google Maps</a:t>
            </a:r>
          </a:p>
          <a:p>
            <a:r>
              <a:rPr lang="en-US" dirty="0"/>
              <a:t>Payments -Existing payment gateway </a:t>
            </a:r>
          </a:p>
          <a:p>
            <a:r>
              <a:rPr lang="en-US" dirty="0"/>
              <a:t>User Authentication – Facebook Gmail</a:t>
            </a:r>
          </a:p>
          <a:p>
            <a:r>
              <a:rPr lang="en-US" dirty="0"/>
              <a:t>The building-block services might employ pre-existing components that are reused, and can also be updated or replaced without affecting the functionality or integrity of other independent services</a:t>
            </a:r>
          </a:p>
          <a:p>
            <a:endParaRPr lang="en-US" dirty="0"/>
          </a:p>
        </p:txBody>
      </p:sp>
    </p:spTree>
    <p:extLst>
      <p:ext uri="{BB962C8B-B14F-4D97-AF65-F5344CB8AC3E}">
        <p14:creationId xmlns:p14="http://schemas.microsoft.com/office/powerpoint/2010/main" val="238651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accent1"/>
                </a:solidFill>
              </a:rPr>
              <a:t>SOA: Service Oriented Architecture</a:t>
            </a:r>
            <a:endParaRPr lang="en-US" dirty="0">
              <a:solidFill>
                <a:schemeClr val="accent1"/>
              </a:solidFill>
            </a:endParaRPr>
          </a:p>
        </p:txBody>
      </p:sp>
      <p:sp>
        <p:nvSpPr>
          <p:cNvPr id="3" name="Content Placeholder 2"/>
          <p:cNvSpPr>
            <a:spLocks noGrp="1"/>
          </p:cNvSpPr>
          <p:nvPr>
            <p:ph idx="1"/>
          </p:nvPr>
        </p:nvSpPr>
        <p:spPr/>
        <p:txBody>
          <a:bodyPr>
            <a:normAutofit/>
          </a:bodyPr>
          <a:lstStyle/>
          <a:p>
            <a:r>
              <a:rPr lang="en-US" b="1" dirty="0"/>
              <a:t>SOA</a:t>
            </a:r>
            <a:r>
              <a:rPr lang="en-US" dirty="0"/>
              <a:t> is a software design approach in which applications are built as a collection of </a:t>
            </a:r>
            <a:r>
              <a:rPr lang="en-US" b="1" dirty="0"/>
              <a:t>loosely coupled, reusable services</a:t>
            </a:r>
          </a:p>
          <a:p>
            <a:r>
              <a:rPr lang="en-US" dirty="0"/>
              <a:t>Each service performs a specific business function and communicates with other services over a network using </a:t>
            </a:r>
            <a:r>
              <a:rPr lang="en-US" b="1" dirty="0"/>
              <a:t>standardized interfaces </a:t>
            </a:r>
            <a:r>
              <a:rPr lang="en-US" dirty="0"/>
              <a:t>such as  SOAP, or REST APIs</a:t>
            </a:r>
            <a:endParaRPr lang="en-US" dirty="0">
              <a:solidFill>
                <a:srgbClr val="00B050"/>
              </a:solidFill>
            </a:endParaRPr>
          </a:p>
        </p:txBody>
      </p:sp>
    </p:spTree>
    <p:extLst>
      <p:ext uri="{BB962C8B-B14F-4D97-AF65-F5344CB8AC3E}">
        <p14:creationId xmlns:p14="http://schemas.microsoft.com/office/powerpoint/2010/main" val="1279570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A7CED-D9D8-D584-0AFA-DD48010152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6C3934-6222-FA96-FB1C-16A80A1D6A78}"/>
              </a:ext>
            </a:extLst>
          </p:cNvPr>
          <p:cNvSpPr>
            <a:spLocks noGrp="1"/>
          </p:cNvSpPr>
          <p:nvPr>
            <p:ph type="title"/>
          </p:nvPr>
        </p:nvSpPr>
        <p:spPr/>
        <p:txBody>
          <a:bodyPr/>
          <a:lstStyle/>
          <a:p>
            <a:r>
              <a:rPr lang="en-GB" dirty="0">
                <a:solidFill>
                  <a:schemeClr val="accent1"/>
                </a:solidFill>
              </a:rPr>
              <a:t>Key features of SOA</a:t>
            </a:r>
            <a:endParaRPr lang="en-US" dirty="0">
              <a:solidFill>
                <a:schemeClr val="accent1"/>
              </a:solidFill>
            </a:endParaRPr>
          </a:p>
        </p:txBody>
      </p:sp>
      <p:sp>
        <p:nvSpPr>
          <p:cNvPr id="3" name="Content Placeholder 2">
            <a:extLst>
              <a:ext uri="{FF2B5EF4-FFF2-40B4-BE49-F238E27FC236}">
                <a16:creationId xmlns:a16="http://schemas.microsoft.com/office/drawing/2014/main" id="{E97B6D1E-D036-C596-3563-9BA594E3D6CF}"/>
              </a:ext>
            </a:extLst>
          </p:cNvPr>
          <p:cNvSpPr>
            <a:spLocks noGrp="1"/>
          </p:cNvSpPr>
          <p:nvPr>
            <p:ph idx="1"/>
          </p:nvPr>
        </p:nvSpPr>
        <p:spPr/>
        <p:txBody>
          <a:bodyPr>
            <a:normAutofit lnSpcReduction="10000"/>
          </a:bodyPr>
          <a:lstStyle/>
          <a:p>
            <a:r>
              <a:rPr lang="en-US" b="1" dirty="0"/>
              <a:t>Loose coupling: </a:t>
            </a:r>
            <a:r>
              <a:rPr lang="en-US" dirty="0"/>
              <a:t>Services are independent and can be changed without affecting others</a:t>
            </a:r>
          </a:p>
          <a:p>
            <a:r>
              <a:rPr lang="en-US" b="1" dirty="0"/>
              <a:t>Reusability: </a:t>
            </a:r>
            <a:r>
              <a:rPr lang="en-US" dirty="0"/>
              <a:t>The same service can be reused across multiple applications</a:t>
            </a:r>
          </a:p>
          <a:p>
            <a:r>
              <a:rPr lang="en-US" b="1" dirty="0"/>
              <a:t>Interoperability: </a:t>
            </a:r>
            <a:r>
              <a:rPr lang="en-US" dirty="0"/>
              <a:t>Services can communicate regardless of programming language or platform</a:t>
            </a:r>
          </a:p>
          <a:p>
            <a:r>
              <a:rPr lang="en-US" b="1" dirty="0"/>
              <a:t>Standard interfaces: </a:t>
            </a:r>
            <a:r>
              <a:rPr lang="en-US" dirty="0"/>
              <a:t>Services expose well-defined contracts</a:t>
            </a:r>
          </a:p>
        </p:txBody>
      </p:sp>
    </p:spTree>
    <p:extLst>
      <p:ext uri="{BB962C8B-B14F-4D97-AF65-F5344CB8AC3E}">
        <p14:creationId xmlns:p14="http://schemas.microsoft.com/office/powerpoint/2010/main" val="20249350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Web services</a:t>
            </a:r>
          </a:p>
        </p:txBody>
      </p:sp>
      <p:sp>
        <p:nvSpPr>
          <p:cNvPr id="3" name="Content Placeholder 2"/>
          <p:cNvSpPr>
            <a:spLocks noGrp="1"/>
          </p:cNvSpPr>
          <p:nvPr>
            <p:ph idx="1"/>
          </p:nvPr>
        </p:nvSpPr>
        <p:spPr/>
        <p:txBody>
          <a:bodyPr>
            <a:normAutofit fontScale="85000" lnSpcReduction="20000"/>
          </a:bodyPr>
          <a:lstStyle/>
          <a:p>
            <a:r>
              <a:rPr lang="en-US" dirty="0"/>
              <a:t>Web services are the prominent technology for implementing SOA systems and applications </a:t>
            </a:r>
          </a:p>
          <a:p>
            <a:r>
              <a:rPr lang="en-US" dirty="0"/>
              <a:t>A Web service is a </a:t>
            </a:r>
            <a:r>
              <a:rPr lang="en-US" b="1" dirty="0"/>
              <a:t>self-describing, self-contained </a:t>
            </a:r>
            <a:r>
              <a:rPr lang="en-US" dirty="0"/>
              <a:t>software module available via a network, such as the Internet, which completes tasks, solves problems, or conducts transactions on behalf of a user or application. </a:t>
            </a:r>
          </a:p>
          <a:p>
            <a:pPr lvl="1"/>
            <a:r>
              <a:rPr lang="en-US" dirty="0"/>
              <a:t>Self-describing: It knows </a:t>
            </a:r>
            <a:r>
              <a:rPr lang="en-US" b="1" dirty="0"/>
              <a:t>what functions it can perform </a:t>
            </a:r>
            <a:r>
              <a:rPr lang="en-US" dirty="0"/>
              <a:t>and </a:t>
            </a:r>
            <a:r>
              <a:rPr lang="en-US" b="1" dirty="0"/>
              <a:t>what inputs   it requires </a:t>
            </a:r>
            <a:r>
              <a:rPr lang="en-US" dirty="0"/>
              <a:t>to produce its outputs.</a:t>
            </a:r>
          </a:p>
          <a:p>
            <a:pPr lvl="1"/>
            <a:r>
              <a:rPr lang="en-US" dirty="0"/>
              <a:t>It can also describe its non-functional properties like cost of invoking the service, the geographical areas the Web service covers etc.</a:t>
            </a:r>
          </a:p>
          <a:p>
            <a:pPr lvl="1"/>
            <a:r>
              <a:rPr lang="en-US" dirty="0"/>
              <a:t>It can describe this to potential users &amp; other Web services</a:t>
            </a:r>
          </a:p>
          <a:p>
            <a:endParaRPr lang="en-US" dirty="0"/>
          </a:p>
        </p:txBody>
      </p:sp>
    </p:spTree>
    <p:extLst>
      <p:ext uri="{BB962C8B-B14F-4D97-AF65-F5344CB8AC3E}">
        <p14:creationId xmlns:p14="http://schemas.microsoft.com/office/powerpoint/2010/main" val="31545223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FF8DA-414E-E519-18C8-430AAD7BBC74}"/>
              </a:ext>
            </a:extLst>
          </p:cNvPr>
          <p:cNvSpPr>
            <a:spLocks noGrp="1"/>
          </p:cNvSpPr>
          <p:nvPr>
            <p:ph type="title"/>
          </p:nvPr>
        </p:nvSpPr>
        <p:spPr>
          <a:xfrm>
            <a:off x="457200" y="274638"/>
            <a:ext cx="8229600" cy="563562"/>
          </a:xfrm>
        </p:spPr>
        <p:txBody>
          <a:bodyPr>
            <a:normAutofit fontScale="90000"/>
          </a:bodyPr>
          <a:lstStyle/>
          <a:p>
            <a:r>
              <a:rPr lang="en-GB" dirty="0">
                <a:solidFill>
                  <a:schemeClr val="accent1"/>
                </a:solidFill>
              </a:rPr>
              <a:t>Web and Cloud Computing</a:t>
            </a:r>
            <a:endParaRPr lang="en-PK" dirty="0"/>
          </a:p>
        </p:txBody>
      </p:sp>
      <p:sp>
        <p:nvSpPr>
          <p:cNvPr id="3" name="Content Placeholder 2">
            <a:extLst>
              <a:ext uri="{FF2B5EF4-FFF2-40B4-BE49-F238E27FC236}">
                <a16:creationId xmlns:a16="http://schemas.microsoft.com/office/drawing/2014/main" id="{EB3451D2-C578-2391-73B7-F331645F826D}"/>
              </a:ext>
            </a:extLst>
          </p:cNvPr>
          <p:cNvSpPr>
            <a:spLocks noGrp="1"/>
          </p:cNvSpPr>
          <p:nvPr>
            <p:ph idx="1"/>
          </p:nvPr>
        </p:nvSpPr>
        <p:spPr>
          <a:xfrm>
            <a:off x="152400" y="1143000"/>
            <a:ext cx="8839200" cy="5562600"/>
          </a:xfrm>
        </p:spPr>
        <p:txBody>
          <a:bodyPr>
            <a:normAutofit lnSpcReduction="10000"/>
          </a:bodyPr>
          <a:lstStyle/>
          <a:p>
            <a:pPr marL="0" indent="0">
              <a:buNone/>
            </a:pPr>
            <a:r>
              <a:rPr lang="en-US" sz="2800" dirty="0">
                <a:solidFill>
                  <a:srgbClr val="FF0000"/>
                </a:solidFill>
              </a:rPr>
              <a:t>The Web is the primary interface through which cloud computing delivers its services.</a:t>
            </a:r>
            <a:endParaRPr lang="en-US" sz="2800" dirty="0">
              <a:solidFill>
                <a:schemeClr val="accent1"/>
              </a:solidFill>
            </a:endParaRPr>
          </a:p>
          <a:p>
            <a:r>
              <a:rPr lang="en-US" sz="2800" b="1" dirty="0">
                <a:solidFill>
                  <a:schemeClr val="accent1"/>
                </a:solidFill>
              </a:rPr>
              <a:t>Web 1.0 (Static Web): </a:t>
            </a:r>
            <a:r>
              <a:rPr lang="en-US" sz="2800" dirty="0"/>
              <a:t>Early web, primarily composed of static HTML pages with little interactivity</a:t>
            </a:r>
            <a:endParaRPr lang="en-US" sz="2800" b="1" kern="1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endParaRPr>
          </a:p>
          <a:p>
            <a:r>
              <a:rPr lang="en-PK" sz="2800" b="1" kern="1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Web 2.0</a:t>
            </a:r>
            <a:r>
              <a:rPr lang="en-PK" sz="2800" kern="1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 </a:t>
            </a:r>
            <a:r>
              <a:rPr lang="en-PK" sz="2800" kern="100" dirty="0">
                <a:effectLst/>
                <a:latin typeface="Calibri" panose="020F0502020204030204" pitchFamily="34" charset="0"/>
                <a:ea typeface="Calibri" panose="020F0502020204030204" pitchFamily="34" charset="0"/>
                <a:cs typeface="Times New Roman" panose="02020603050405020304" pitchFamily="18" charset="0"/>
              </a:rPr>
              <a:t>is characterized by </a:t>
            </a:r>
            <a:r>
              <a:rPr lang="en-PK" sz="2800" kern="1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dynamic content</a:t>
            </a:r>
            <a:r>
              <a:rPr lang="en-PK" sz="2800" kern="100" dirty="0">
                <a:effectLst/>
                <a:latin typeface="Calibri" panose="020F0502020204030204" pitchFamily="34" charset="0"/>
                <a:ea typeface="Calibri" panose="020F0502020204030204" pitchFamily="34" charset="0"/>
                <a:cs typeface="Times New Roman" panose="02020603050405020304" pitchFamily="18" charset="0"/>
              </a:rPr>
              <a:t>, user-generated content, and interactive experiences, all of which are heavily reliant on cloud computing for scalability, storage, and processing power.</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r>
              <a:rPr lang="en-PK" sz="2800" kern="100" dirty="0">
                <a:effectLst/>
                <a:latin typeface="Calibri" panose="020F0502020204030204" pitchFamily="34" charset="0"/>
                <a:ea typeface="Calibri" panose="020F0502020204030204" pitchFamily="34" charset="0"/>
                <a:cs typeface="Times New Roman" panose="02020603050405020304" pitchFamily="18" charset="0"/>
              </a:rPr>
              <a:t>Platforms like YouTube, Facebook, and Instagram rely on cloud infrastructure to store and serve vast amounts of user-generated content. The cloud provides the scalable storage and computing resources needed to handle millions of users simultaneously.</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a:p>
            <a:pPr marL="0" indent="0">
              <a:buNone/>
            </a:pPr>
            <a:endParaRPr lang="en-PK" dirty="0"/>
          </a:p>
        </p:txBody>
      </p:sp>
    </p:spTree>
    <p:extLst>
      <p:ext uri="{BB962C8B-B14F-4D97-AF65-F5344CB8AC3E}">
        <p14:creationId xmlns:p14="http://schemas.microsoft.com/office/powerpoint/2010/main" val="18715404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FF8DA-414E-E519-18C8-430AAD7BBC74}"/>
              </a:ext>
            </a:extLst>
          </p:cNvPr>
          <p:cNvSpPr>
            <a:spLocks noGrp="1"/>
          </p:cNvSpPr>
          <p:nvPr>
            <p:ph type="title"/>
          </p:nvPr>
        </p:nvSpPr>
        <p:spPr>
          <a:xfrm>
            <a:off x="457200" y="274638"/>
            <a:ext cx="8229600" cy="563562"/>
          </a:xfrm>
        </p:spPr>
        <p:txBody>
          <a:bodyPr>
            <a:normAutofit fontScale="90000"/>
          </a:bodyPr>
          <a:lstStyle/>
          <a:p>
            <a:r>
              <a:rPr lang="en-GB" dirty="0">
                <a:solidFill>
                  <a:schemeClr val="accent1"/>
                </a:solidFill>
              </a:rPr>
              <a:t>Web and Cloud Computing …</a:t>
            </a:r>
            <a:endParaRPr lang="en-PK" dirty="0"/>
          </a:p>
        </p:txBody>
      </p:sp>
      <p:sp>
        <p:nvSpPr>
          <p:cNvPr id="3" name="Content Placeholder 2">
            <a:extLst>
              <a:ext uri="{FF2B5EF4-FFF2-40B4-BE49-F238E27FC236}">
                <a16:creationId xmlns:a16="http://schemas.microsoft.com/office/drawing/2014/main" id="{EB3451D2-C578-2391-73B7-F331645F826D}"/>
              </a:ext>
            </a:extLst>
          </p:cNvPr>
          <p:cNvSpPr>
            <a:spLocks noGrp="1"/>
          </p:cNvSpPr>
          <p:nvPr>
            <p:ph idx="1"/>
          </p:nvPr>
        </p:nvSpPr>
        <p:spPr>
          <a:xfrm>
            <a:off x="152400" y="1143000"/>
            <a:ext cx="8839200" cy="5562600"/>
          </a:xfrm>
        </p:spPr>
        <p:txBody>
          <a:bodyPr>
            <a:normAutofit/>
          </a:bodyPr>
          <a:lstStyle/>
          <a:p>
            <a:r>
              <a:rPr lang="en-PK" sz="2800" b="1" kern="1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Web 3.0 (often referred to as the Semantic Web) </a:t>
            </a:r>
            <a:r>
              <a:rPr lang="en-PK" sz="2800" kern="100" dirty="0">
                <a:effectLst/>
                <a:latin typeface="Calibri" panose="020F0502020204030204" pitchFamily="34" charset="0"/>
                <a:ea typeface="Calibri" panose="020F0502020204030204" pitchFamily="34" charset="0"/>
                <a:cs typeface="Times New Roman" panose="02020603050405020304" pitchFamily="18" charset="0"/>
              </a:rPr>
              <a:t>envisions a more intelligent, decentralized, and user-centric internet, where machines can understand and process information in a human-like manner. Web 3.0 also integrates emerging technologies like blockchain, AI, and decentralized applications (</a:t>
            </a:r>
            <a:r>
              <a:rPr lang="en-PK" sz="2800" kern="100" dirty="0" err="1">
                <a:effectLst/>
                <a:latin typeface="Calibri" panose="020F0502020204030204" pitchFamily="34" charset="0"/>
                <a:ea typeface="Calibri" panose="020F0502020204030204" pitchFamily="34" charset="0"/>
                <a:cs typeface="Times New Roman" panose="02020603050405020304" pitchFamily="18" charset="0"/>
              </a:rPr>
              <a:t>dApps</a:t>
            </a:r>
            <a:r>
              <a:rPr lang="en-PK" sz="28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indent="0">
              <a:buNone/>
            </a:pPr>
            <a:endParaRPr lang="en-US" dirty="0"/>
          </a:p>
          <a:p>
            <a:pPr marL="0" indent="0">
              <a:buNone/>
            </a:pPr>
            <a:endParaRPr lang="en-PK" dirty="0"/>
          </a:p>
        </p:txBody>
      </p:sp>
    </p:spTree>
    <p:extLst>
      <p:ext uri="{BB962C8B-B14F-4D97-AF65-F5344CB8AC3E}">
        <p14:creationId xmlns:p14="http://schemas.microsoft.com/office/powerpoint/2010/main" val="40171804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solidFill>
              </a:rPr>
              <a:t>Multitenant technology </a:t>
            </a:r>
          </a:p>
        </p:txBody>
      </p:sp>
      <p:sp>
        <p:nvSpPr>
          <p:cNvPr id="3" name="Content Placeholder 2"/>
          <p:cNvSpPr>
            <a:spLocks noGrp="1"/>
          </p:cNvSpPr>
          <p:nvPr>
            <p:ph idx="1"/>
          </p:nvPr>
        </p:nvSpPr>
        <p:spPr>
          <a:xfrm>
            <a:off x="457200" y="1600200"/>
            <a:ext cx="8229600" cy="4800600"/>
          </a:xfrm>
        </p:spPr>
        <p:txBody>
          <a:bodyPr>
            <a:normAutofit fontScale="85000" lnSpcReduction="20000"/>
          </a:bodyPr>
          <a:lstStyle/>
          <a:p>
            <a:pPr marL="0" indent="0">
              <a:lnSpc>
                <a:spcPct val="107000"/>
              </a:lnSpc>
              <a:spcAft>
                <a:spcPts val="800"/>
              </a:spcAft>
              <a:buNone/>
            </a:pPr>
            <a:r>
              <a:rPr lang="en-US" sz="3000" kern="1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Definition: </a:t>
            </a:r>
            <a:r>
              <a:rPr lang="en-US" sz="3000" kern="100" dirty="0">
                <a:effectLst/>
                <a:latin typeface="Calibri" panose="020F0502020204030204" pitchFamily="34" charset="0"/>
                <a:ea typeface="Calibri" panose="020F0502020204030204" pitchFamily="34" charset="0"/>
                <a:cs typeface="Times New Roman" panose="02020603050405020304" pitchFamily="18" charset="0"/>
              </a:rPr>
              <a:t>Multitenancy is an architecture in which a single instance of a software application serves multiple tenants (users or user groups). Each tenant's data and configurations are isolated, despite being hosted on the same physical or virtual server.</a:t>
            </a:r>
            <a:endParaRPr lang="en-PK"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3000" kern="1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Analogy: </a:t>
            </a:r>
            <a:r>
              <a:rPr lang="en-US" sz="3000" kern="100" dirty="0">
                <a:effectLst/>
                <a:latin typeface="Calibri" panose="020F0502020204030204" pitchFamily="34" charset="0"/>
                <a:ea typeface="Calibri" panose="020F0502020204030204" pitchFamily="34" charset="0"/>
                <a:cs typeface="Times New Roman" panose="02020603050405020304" pitchFamily="18" charset="0"/>
              </a:rPr>
              <a:t>Think of a multitenant system as an apartment building. Each tenant (user) has their own apartment (data and configurations), but they share common infrastructure like elevators, hallways, and utilities (the application and underlying hardware).</a:t>
            </a:r>
            <a:endParaRPr lang="en-PK"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br>
              <a:rPr lang="en-US" dirty="0"/>
            </a:br>
            <a:endParaRPr lang="en-US" dirty="0"/>
          </a:p>
        </p:txBody>
      </p:sp>
    </p:spTree>
    <p:extLst>
      <p:ext uri="{BB962C8B-B14F-4D97-AF65-F5344CB8AC3E}">
        <p14:creationId xmlns:p14="http://schemas.microsoft.com/office/powerpoint/2010/main" val="40576630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solidFill>
              </a:rPr>
              <a:t>A simple example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7437" y="1981200"/>
            <a:ext cx="4429125" cy="444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79232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392</TotalTime>
  <Words>2171</Words>
  <Application>Microsoft Office PowerPoint</Application>
  <PresentationFormat>On-screen Show (4:3)</PresentationFormat>
  <Paragraphs>132</Paragraphs>
  <Slides>38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Helvetica</vt:lpstr>
      <vt:lpstr>Times New Roman</vt:lpstr>
      <vt:lpstr>Office Theme</vt:lpstr>
      <vt:lpstr>PowerPoint Presentation</vt:lpstr>
      <vt:lpstr>Advantages of cloud computing? </vt:lpstr>
      <vt:lpstr>Advantages of cloud computing</vt:lpstr>
      <vt:lpstr>PowerPoint Presentation</vt:lpstr>
      <vt:lpstr>PowerPoint Presentation</vt:lpstr>
      <vt:lpstr>Disadvantages of cloud computing? </vt:lpstr>
      <vt:lpstr>Disadvantages of cloud computing</vt:lpstr>
      <vt:lpstr>PowerPoint Presentation</vt:lpstr>
      <vt:lpstr>Capital One Data Breach (2019)</vt:lpstr>
      <vt:lpstr>Microsoft Azure Cosmos DB Vulnerability (2021)</vt:lpstr>
      <vt:lpstr>Geography and Cloud Computing</vt:lpstr>
      <vt:lpstr>PowerPoint Presentation</vt:lpstr>
      <vt:lpstr>Cloud-computing region?  availability zone?</vt:lpstr>
      <vt:lpstr>Cloud-computing region?  availability zone?</vt:lpstr>
      <vt:lpstr>Cloud computing model NIST</vt:lpstr>
      <vt:lpstr>Cloud computing model NIST</vt:lpstr>
      <vt:lpstr>This cloud model is composed of five essential characteristics:</vt:lpstr>
      <vt:lpstr>PowerPoint Presentation</vt:lpstr>
      <vt:lpstr>PowerPoint Presentation</vt:lpstr>
      <vt:lpstr>Cloud Enabling Technologies</vt:lpstr>
      <vt:lpstr>Cloud Enabling Technologies</vt:lpstr>
      <vt:lpstr>Broadband networks &amp; Internet architecture </vt:lpstr>
      <vt:lpstr>Internet Service Providers (ISPs)  </vt:lpstr>
      <vt:lpstr>PowerPoint Presentation</vt:lpstr>
      <vt:lpstr>PowerPoint Presentation</vt:lpstr>
      <vt:lpstr>Data Flow in the Cloud Network From Cloud Consumers to Cloud Services</vt:lpstr>
      <vt:lpstr>Cont.</vt:lpstr>
      <vt:lpstr>PowerPoint Presentation</vt:lpstr>
      <vt:lpstr>Virtualization </vt:lpstr>
      <vt:lpstr>SOA?</vt:lpstr>
      <vt:lpstr>Case Study</vt:lpstr>
      <vt:lpstr>SOA: Service Oriented Architecture</vt:lpstr>
      <vt:lpstr>Key features of SOA</vt:lpstr>
      <vt:lpstr>Web services</vt:lpstr>
      <vt:lpstr>Web and Cloud Computing</vt:lpstr>
      <vt:lpstr>Web and Cloud Computing …</vt:lpstr>
      <vt:lpstr>Multitenant technology </vt:lpstr>
      <vt:lpstr>A simple example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 History of Cloud Computing</dc:title>
  <dc:creator>Faisal</dc:creator>
  <cp:lastModifiedBy>Faisal Bin Ubaid</cp:lastModifiedBy>
  <cp:revision>39</cp:revision>
  <dcterms:created xsi:type="dcterms:W3CDTF">2022-03-01T07:25:15Z</dcterms:created>
  <dcterms:modified xsi:type="dcterms:W3CDTF">2026-01-20T08:03:56Z</dcterms:modified>
</cp:coreProperties>
</file>