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67" r:id="rId2"/>
    <p:sldId id="268" r:id="rId3"/>
    <p:sldId id="271" r:id="rId4"/>
    <p:sldId id="272" r:id="rId5"/>
    <p:sldId id="270" r:id="rId6"/>
    <p:sldId id="269" r:id="rId7"/>
    <p:sldId id="256" r:id="rId8"/>
    <p:sldId id="257" r:id="rId9"/>
    <p:sldId id="259" r:id="rId10"/>
    <p:sldId id="260" r:id="rId11"/>
    <p:sldId id="261" r:id="rId12"/>
    <p:sldId id="262" r:id="rId13"/>
    <p:sldId id="263" r:id="rId14"/>
    <p:sldId id="264" r:id="rId15"/>
    <p:sldId id="265" r:id="rId16"/>
    <p:sldId id="266" r:id="rId17"/>
    <p:sldId id="273" r:id="rId18"/>
    <p:sldId id="274" r:id="rId19"/>
    <p:sldId id="275" r:id="rId20"/>
    <p:sldId id="276" r:id="rId21"/>
    <p:sldId id="300" r:id="rId22"/>
    <p:sldId id="301" r:id="rId23"/>
    <p:sldId id="302" r:id="rId24"/>
    <p:sldId id="280" r:id="rId25"/>
    <p:sldId id="281" r:id="rId26"/>
    <p:sldId id="282" r:id="rId27"/>
    <p:sldId id="283" r:id="rId28"/>
    <p:sldId id="285" r:id="rId29"/>
    <p:sldId id="286" r:id="rId30"/>
    <p:sldId id="287" r:id="rId31"/>
    <p:sldId id="288"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A5EC70-0A5D-4B0F-8B64-CAF129F188E4}" type="datetimeFigureOut">
              <a:rPr lang="en-US" smtClean="0"/>
              <a:t>1/13/2026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FE6300-A3F5-4BE8-9612-EE9FEBCBF6DA}" type="slidenum">
              <a:rPr lang="en-US" smtClean="0"/>
              <a:t>‹#›</a:t>
            </a:fld>
            <a:endParaRPr lang="en-US"/>
          </a:p>
        </p:txBody>
      </p:sp>
    </p:spTree>
    <p:extLst>
      <p:ext uri="{BB962C8B-B14F-4D97-AF65-F5344CB8AC3E}">
        <p14:creationId xmlns:p14="http://schemas.microsoft.com/office/powerpoint/2010/main" val="294440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sz="2000" b="1">
                <a:solidFill>
                  <a:schemeClr val="tx1"/>
                </a:solidFill>
                <a:latin typeface="Courier New" pitchFamily="49" charset="0"/>
              </a:defRPr>
            </a:lvl1pPr>
            <a:lvl2pPr marL="742950" indent="-285750" eaLnBrk="0" hangingPunct="0">
              <a:defRPr sz="2000" b="1">
                <a:solidFill>
                  <a:schemeClr val="tx1"/>
                </a:solidFill>
                <a:latin typeface="Courier New" pitchFamily="49" charset="0"/>
              </a:defRPr>
            </a:lvl2pPr>
            <a:lvl3pPr marL="1143000" indent="-228600" eaLnBrk="0" hangingPunct="0">
              <a:defRPr sz="2000" b="1">
                <a:solidFill>
                  <a:schemeClr val="tx1"/>
                </a:solidFill>
                <a:latin typeface="Courier New" pitchFamily="49" charset="0"/>
              </a:defRPr>
            </a:lvl3pPr>
            <a:lvl4pPr marL="1600200" indent="-228600" eaLnBrk="0" hangingPunct="0">
              <a:defRPr sz="2000" b="1">
                <a:solidFill>
                  <a:schemeClr val="tx1"/>
                </a:solidFill>
                <a:latin typeface="Courier New" pitchFamily="49" charset="0"/>
              </a:defRPr>
            </a:lvl4pPr>
            <a:lvl5pPr marL="2057400" indent="-228600" eaLnBrk="0" hangingPunct="0">
              <a:defRPr sz="2000" b="1">
                <a:solidFill>
                  <a:schemeClr val="tx1"/>
                </a:solidFill>
                <a:latin typeface="Courier New" pitchFamily="49" charset="0"/>
              </a:defRPr>
            </a:lvl5pPr>
            <a:lvl6pPr marL="25146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6pPr>
            <a:lvl7pPr marL="29718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7pPr>
            <a:lvl8pPr marL="34290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8pPr>
            <a:lvl9pPr marL="38862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9pPr>
          </a:lstStyle>
          <a:p>
            <a:pPr eaLnBrk="1" hangingPunct="1"/>
            <a:fld id="{BD924CB9-BF52-43DE-B0B8-E4E44D446BDC}" type="slidenum">
              <a:rPr lang="en-US" sz="1200" b="0" smtClean="0">
                <a:latin typeface="Times New Roman" pitchFamily="18" charset="0"/>
              </a:rPr>
              <a:pPr eaLnBrk="1" hangingPunct="1"/>
              <a:t>1</a:t>
            </a:fld>
            <a:endParaRPr lang="en-US" sz="1200" b="0">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eaLnBrk="0" hangingPunct="0">
              <a:defRPr sz="2000" b="1">
                <a:solidFill>
                  <a:schemeClr val="tx1"/>
                </a:solidFill>
                <a:latin typeface="Courier New" pitchFamily="49" charset="0"/>
              </a:defRPr>
            </a:lvl1pPr>
            <a:lvl2pPr marL="742950" indent="-285750" eaLnBrk="0" hangingPunct="0">
              <a:defRPr sz="2000" b="1">
                <a:solidFill>
                  <a:schemeClr val="tx1"/>
                </a:solidFill>
                <a:latin typeface="Courier New" pitchFamily="49" charset="0"/>
              </a:defRPr>
            </a:lvl2pPr>
            <a:lvl3pPr marL="1143000" indent="-228600" eaLnBrk="0" hangingPunct="0">
              <a:defRPr sz="2000" b="1">
                <a:solidFill>
                  <a:schemeClr val="tx1"/>
                </a:solidFill>
                <a:latin typeface="Courier New" pitchFamily="49" charset="0"/>
              </a:defRPr>
            </a:lvl3pPr>
            <a:lvl4pPr marL="1600200" indent="-228600" eaLnBrk="0" hangingPunct="0">
              <a:defRPr sz="2000" b="1">
                <a:solidFill>
                  <a:schemeClr val="tx1"/>
                </a:solidFill>
                <a:latin typeface="Courier New" pitchFamily="49" charset="0"/>
              </a:defRPr>
            </a:lvl4pPr>
            <a:lvl5pPr marL="2057400" indent="-228600" eaLnBrk="0" hangingPunct="0">
              <a:defRPr sz="2000" b="1">
                <a:solidFill>
                  <a:schemeClr val="tx1"/>
                </a:solidFill>
                <a:latin typeface="Courier New" pitchFamily="49" charset="0"/>
              </a:defRPr>
            </a:lvl5pPr>
            <a:lvl6pPr marL="25146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6pPr>
            <a:lvl7pPr marL="29718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7pPr>
            <a:lvl8pPr marL="34290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8pPr>
            <a:lvl9pPr marL="38862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9pPr>
          </a:lstStyle>
          <a:p>
            <a:pPr eaLnBrk="1" hangingPunct="1"/>
            <a:fld id="{D04BA30D-B520-4197-B131-49B7478E6A10}" type="slidenum">
              <a:rPr lang="en-US" sz="1200" b="0" smtClean="0">
                <a:latin typeface="Times New Roman" pitchFamily="18" charset="0"/>
              </a:rPr>
              <a:pPr eaLnBrk="1" hangingPunct="1"/>
              <a:t>2</a:t>
            </a:fld>
            <a:endParaRPr lang="en-US" sz="1200" b="0">
              <a:latin typeface="Times New Roman" pitchFamily="18" charset="0"/>
            </a:endParaRPr>
          </a:p>
        </p:txBody>
      </p:sp>
      <p:sp>
        <p:nvSpPr>
          <p:cNvPr id="29699" name="Rectangle 2"/>
          <p:cNvSpPr>
            <a:spLocks noGrp="1" noRot="1" noChangeAspect="1" noChangeArrowheads="1" noTextEdit="1"/>
          </p:cNvSpPr>
          <p:nvPr>
            <p:ph type="sldImg"/>
          </p:nvPr>
        </p:nvSpPr>
        <p:spPr>
          <a:solidFill>
            <a:srgbClr val="FFFFFF"/>
          </a:solidFill>
          <a:ln/>
        </p:spPr>
      </p:sp>
      <p:sp>
        <p:nvSpPr>
          <p:cNvPr id="29700" name="Rectangle 4"/>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563C05-88A1-4B82-9807-5C61BA1D4B0F}"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359202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63C05-88A1-4B82-9807-5C61BA1D4B0F}"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39492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563C05-88A1-4B82-9807-5C61BA1D4B0F}"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321336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563C05-88A1-4B82-9807-5C61BA1D4B0F}"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81814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563C05-88A1-4B82-9807-5C61BA1D4B0F}"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519664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563C05-88A1-4B82-9807-5C61BA1D4B0F}"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43528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563C05-88A1-4B82-9807-5C61BA1D4B0F}"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3177610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563C05-88A1-4B82-9807-5C61BA1D4B0F}"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185105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563C05-88A1-4B82-9807-5C61BA1D4B0F}"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419419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63C05-88A1-4B82-9807-5C61BA1D4B0F}"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1733249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63C05-88A1-4B82-9807-5C61BA1D4B0F}"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1050073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563C05-88A1-4B82-9807-5C61BA1D4B0F}" type="datetimeFigureOut">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D4AFA-FF10-43D4-88D9-27B4EE7FC75F}" type="slidenum">
              <a:rPr lang="en-US" smtClean="0"/>
              <a:t>‹#›</a:t>
            </a:fld>
            <a:endParaRPr lang="en-US"/>
          </a:p>
        </p:txBody>
      </p:sp>
    </p:spTree>
    <p:extLst>
      <p:ext uri="{BB962C8B-B14F-4D97-AF65-F5344CB8AC3E}">
        <p14:creationId xmlns:p14="http://schemas.microsoft.com/office/powerpoint/2010/main" val="3583654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6"/>
          <p:cNvSpPr>
            <a:spLocks noChangeArrowheads="1"/>
          </p:cNvSpPr>
          <p:nvPr/>
        </p:nvSpPr>
        <p:spPr bwMode="auto">
          <a:xfrm>
            <a:off x="381000" y="1524000"/>
            <a:ext cx="8458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00000"/>
              </a:lnSpc>
              <a:spcBef>
                <a:spcPct val="0"/>
              </a:spcBef>
              <a:buFontTx/>
              <a:buNone/>
            </a:pPr>
            <a:r>
              <a:rPr lang="en-US" sz="4400" b="0" dirty="0">
                <a:solidFill>
                  <a:schemeClr val="tx2"/>
                </a:solidFill>
                <a:latin typeface="Helvetica" pitchFamily="34" charset="0"/>
              </a:rPr>
              <a:t>Parallel &amp; Distributed Computing</a:t>
            </a:r>
          </a:p>
          <a:p>
            <a:pPr algn="ctr">
              <a:lnSpc>
                <a:spcPct val="100000"/>
              </a:lnSpc>
              <a:spcBef>
                <a:spcPct val="0"/>
              </a:spcBef>
              <a:buFontTx/>
              <a:buNone/>
            </a:pPr>
            <a:endParaRPr lang="en-US" sz="4400" b="0" dirty="0">
              <a:solidFill>
                <a:schemeClr val="tx2"/>
              </a:solidFill>
              <a:latin typeface="Helvetica" pitchFamily="34" charset="0"/>
            </a:endParaRPr>
          </a:p>
          <a:p>
            <a:pPr algn="ctr">
              <a:lnSpc>
                <a:spcPct val="100000"/>
              </a:lnSpc>
              <a:spcBef>
                <a:spcPct val="0"/>
              </a:spcBef>
              <a:buFontTx/>
              <a:buNone/>
            </a:pPr>
            <a:r>
              <a:rPr lang="en-US" sz="4400" b="0" dirty="0">
                <a:solidFill>
                  <a:schemeClr val="tx2"/>
                </a:solidFill>
                <a:latin typeface="Helvetica" pitchFamily="34" charset="0"/>
              </a:rPr>
              <a:t>Lecture 1 </a:t>
            </a:r>
            <a:br>
              <a:rPr lang="en-US" sz="4400" b="0" dirty="0">
                <a:solidFill>
                  <a:schemeClr val="tx2"/>
                </a:solidFill>
                <a:latin typeface="Helvetica" pitchFamily="34" charset="0"/>
              </a:rPr>
            </a:br>
            <a:endParaRPr lang="en-US" sz="4400" b="0" dirty="0">
              <a:solidFill>
                <a:schemeClr val="tx2"/>
              </a:solidFill>
              <a:latin typeface="Helvetica" pitchFamily="34" charset="0"/>
            </a:endParaRPr>
          </a:p>
          <a:p>
            <a:pPr algn="ctr">
              <a:lnSpc>
                <a:spcPct val="100000"/>
              </a:lnSpc>
              <a:spcBef>
                <a:spcPct val="0"/>
              </a:spcBef>
              <a:buFontTx/>
              <a:buNone/>
            </a:pPr>
            <a:r>
              <a:rPr lang="en-US" sz="3600" b="0" dirty="0">
                <a:solidFill>
                  <a:schemeClr val="tx2"/>
                </a:solidFill>
                <a:latin typeface="Helvetica" pitchFamily="34" charset="0"/>
              </a:rPr>
              <a:t>Dr. Faisal Bin </a:t>
            </a:r>
            <a:r>
              <a:rPr lang="en-US" sz="3600" b="0" dirty="0" err="1">
                <a:solidFill>
                  <a:schemeClr val="tx2"/>
                </a:solidFill>
                <a:latin typeface="Helvetica" pitchFamily="34" charset="0"/>
              </a:rPr>
              <a:t>Ubaid</a:t>
            </a:r>
            <a:endParaRPr lang="en-US" sz="3600" b="0" dirty="0">
              <a:solidFill>
                <a:schemeClr val="tx2"/>
              </a:solidFill>
              <a:latin typeface="Helvetica" pitchFamily="34" charset="0"/>
            </a:endParaRPr>
          </a:p>
        </p:txBody>
      </p:sp>
    </p:spTree>
    <p:extLst>
      <p:ext uri="{BB962C8B-B14F-4D97-AF65-F5344CB8AC3E}">
        <p14:creationId xmlns:p14="http://schemas.microsoft.com/office/powerpoint/2010/main" val="3526574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5613" y="365125"/>
            <a:ext cx="8226425" cy="914400"/>
          </a:xfrm>
        </p:spPr>
        <p:txBody>
          <a:bodyPr/>
          <a:lstStyle/>
          <a:p>
            <a:pPr eaLnBrk="1" hangingPunct="1"/>
            <a:r>
              <a:rPr lang="en-US" dirty="0">
                <a:solidFill>
                  <a:schemeClr val="accent1"/>
                </a:solidFill>
                <a:latin typeface="Helvetica" pitchFamily="34" charset="0"/>
              </a:rPr>
              <a:t>Instructor</a:t>
            </a:r>
          </a:p>
        </p:txBody>
      </p:sp>
      <p:sp>
        <p:nvSpPr>
          <p:cNvPr id="4099" name="Rectangle 3"/>
          <p:cNvSpPr>
            <a:spLocks noGrp="1" noChangeArrowheads="1"/>
          </p:cNvSpPr>
          <p:nvPr>
            <p:ph idx="1"/>
          </p:nvPr>
        </p:nvSpPr>
        <p:spPr>
          <a:xfrm>
            <a:off x="455613" y="1600200"/>
            <a:ext cx="8226425" cy="4572000"/>
          </a:xfrm>
        </p:spPr>
        <p:txBody>
          <a:bodyPr>
            <a:normAutofit fontScale="92500" lnSpcReduction="10000"/>
          </a:bodyPr>
          <a:lstStyle/>
          <a:p>
            <a:pPr eaLnBrk="1" hangingPunct="1">
              <a:buFontTx/>
              <a:buNone/>
            </a:pPr>
            <a:r>
              <a:rPr lang="en-US" b="1" dirty="0">
                <a:latin typeface="Helvetica" pitchFamily="34" charset="0"/>
              </a:rPr>
              <a:t>Faisal Bin </a:t>
            </a:r>
            <a:r>
              <a:rPr lang="en-US" b="1" dirty="0" err="1">
                <a:latin typeface="Helvetica" pitchFamily="34" charset="0"/>
              </a:rPr>
              <a:t>Ubaid</a:t>
            </a:r>
            <a:endParaRPr lang="en-US" b="1" dirty="0">
              <a:latin typeface="Helvetica" pitchFamily="34" charset="0"/>
            </a:endParaRPr>
          </a:p>
          <a:p>
            <a:pPr eaLnBrk="1" hangingPunct="1">
              <a:buFontTx/>
              <a:buNone/>
            </a:pPr>
            <a:r>
              <a:rPr lang="en-US" b="1">
                <a:latin typeface="Helvetica" pitchFamily="34" charset="0"/>
              </a:rPr>
              <a:t>faisalbinubaid@iba-suk.edu.pk</a:t>
            </a:r>
            <a:endParaRPr lang="en-US" b="1" dirty="0">
              <a:latin typeface="Helvetica" pitchFamily="34" charset="0"/>
            </a:endParaRPr>
          </a:p>
          <a:p>
            <a:pPr eaLnBrk="1" hangingPunct="1">
              <a:buFont typeface="Wingdings" pitchFamily="2" charset="2"/>
              <a:buChar char="§"/>
            </a:pPr>
            <a:r>
              <a:rPr lang="en-US" dirty="0">
                <a:latin typeface="Helvetica" pitchFamily="34" charset="0"/>
              </a:rPr>
              <a:t>Present: Assistant Professor IBA </a:t>
            </a:r>
            <a:r>
              <a:rPr lang="en-US" dirty="0" err="1">
                <a:latin typeface="Helvetica" pitchFamily="34" charset="0"/>
              </a:rPr>
              <a:t>Sukkur</a:t>
            </a:r>
            <a:endParaRPr lang="en-US" dirty="0">
              <a:latin typeface="Helvetica" pitchFamily="34" charset="0"/>
            </a:endParaRPr>
          </a:p>
          <a:p>
            <a:pPr eaLnBrk="1" hangingPunct="1">
              <a:buFont typeface="Wingdings" pitchFamily="2" charset="2"/>
              <a:buChar char="§"/>
            </a:pPr>
            <a:r>
              <a:rPr lang="en-US" dirty="0">
                <a:latin typeface="Helvetica" pitchFamily="34" charset="0"/>
              </a:rPr>
              <a:t>2015-2020: PhD Chongqing University China</a:t>
            </a:r>
          </a:p>
          <a:p>
            <a:pPr eaLnBrk="1" hangingPunct="1">
              <a:buFont typeface="Wingdings" pitchFamily="2" charset="2"/>
              <a:buChar char="§"/>
            </a:pPr>
            <a:r>
              <a:rPr lang="en-US" dirty="0">
                <a:latin typeface="Helvetica" pitchFamily="34" charset="0"/>
              </a:rPr>
              <a:t>2013-2015: Lecturer Military College of Signals (NUST)</a:t>
            </a:r>
          </a:p>
          <a:p>
            <a:pPr eaLnBrk="1" hangingPunct="1">
              <a:buFont typeface="Wingdings" pitchFamily="2" charset="2"/>
              <a:buChar char="§"/>
            </a:pPr>
            <a:r>
              <a:rPr lang="en-US" dirty="0">
                <a:latin typeface="Helvetica" pitchFamily="34" charset="0"/>
              </a:rPr>
              <a:t>MS </a:t>
            </a:r>
            <a:r>
              <a:rPr lang="en-US" dirty="0" err="1">
                <a:latin typeface="Helvetica" pitchFamily="34" charset="0"/>
              </a:rPr>
              <a:t>Bahria</a:t>
            </a:r>
            <a:r>
              <a:rPr lang="en-US" dirty="0">
                <a:latin typeface="Helvetica" pitchFamily="34" charset="0"/>
              </a:rPr>
              <a:t> University Islamabad 2011 -2012</a:t>
            </a:r>
          </a:p>
          <a:p>
            <a:pPr eaLnBrk="1" hangingPunct="1">
              <a:buFont typeface="Wingdings" pitchFamily="2" charset="2"/>
              <a:buChar char="§"/>
            </a:pPr>
            <a:r>
              <a:rPr lang="en-US" dirty="0">
                <a:latin typeface="Helvetica" pitchFamily="34" charset="0"/>
              </a:rPr>
              <a:t>BS COMSATS University Islamabad 2006-2010</a:t>
            </a:r>
          </a:p>
        </p:txBody>
      </p:sp>
    </p:spTree>
    <p:extLst>
      <p:ext uri="{BB962C8B-B14F-4D97-AF65-F5344CB8AC3E}">
        <p14:creationId xmlns:p14="http://schemas.microsoft.com/office/powerpoint/2010/main" val="2960438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90800"/>
            <a:ext cx="8229600" cy="1143000"/>
          </a:xfrm>
        </p:spPr>
        <p:txBody>
          <a:bodyPr/>
          <a:lstStyle/>
          <a:p>
            <a:r>
              <a:rPr lang="en-US" dirty="0">
                <a:solidFill>
                  <a:schemeClr val="accent1"/>
                </a:solidFill>
              </a:rPr>
              <a:t>Course Outline</a:t>
            </a:r>
          </a:p>
        </p:txBody>
      </p:sp>
    </p:spTree>
    <p:extLst>
      <p:ext uri="{BB962C8B-B14F-4D97-AF65-F5344CB8AC3E}">
        <p14:creationId xmlns:p14="http://schemas.microsoft.com/office/powerpoint/2010/main" val="2974100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3F92BB-0BF7-C238-BBF2-51783D063E4F}"/>
              </a:ext>
            </a:extLst>
          </p:cNvPr>
          <p:cNvSpPr>
            <a:spLocks noGrp="1"/>
          </p:cNvSpPr>
          <p:nvPr>
            <p:ph idx="1"/>
          </p:nvPr>
        </p:nvSpPr>
        <p:spPr>
          <a:xfrm>
            <a:off x="457200" y="685800"/>
            <a:ext cx="8229600" cy="4525963"/>
          </a:xfrm>
        </p:spPr>
        <p:txBody>
          <a:bodyPr>
            <a:normAutofit fontScale="77500" lnSpcReduction="20000"/>
          </a:bodyPr>
          <a:lstStyle/>
          <a:p>
            <a:pPr algn="l">
              <a:buFont typeface="+mj-lt"/>
              <a:buAutoNum type="arabicPeriod"/>
            </a:pPr>
            <a:r>
              <a:rPr lang="en-US" b="1" i="0" dirty="0">
                <a:solidFill>
                  <a:schemeClr val="accent1"/>
                </a:solidFill>
                <a:effectLst/>
                <a:latin typeface="Söhne"/>
              </a:rPr>
              <a:t>Parallel Computing:</a:t>
            </a:r>
            <a:endParaRPr lang="en-US" b="0" i="0" dirty="0">
              <a:solidFill>
                <a:schemeClr val="accent1"/>
              </a:solidFill>
              <a:effectLst/>
              <a:latin typeface="Söhne"/>
            </a:endParaRPr>
          </a:p>
          <a:p>
            <a:pPr lvl="1"/>
            <a:r>
              <a:rPr lang="en-US" b="0" i="0" dirty="0">
                <a:solidFill>
                  <a:srgbClr val="374151"/>
                </a:solidFill>
                <a:effectLst/>
                <a:latin typeface="Söhne"/>
              </a:rPr>
              <a:t>Involves multiple processors or computing units.</a:t>
            </a:r>
          </a:p>
          <a:p>
            <a:pPr lvl="1"/>
            <a:r>
              <a:rPr lang="en-US" b="0" i="0" dirty="0">
                <a:solidFill>
                  <a:srgbClr val="374151"/>
                </a:solidFill>
                <a:effectLst/>
                <a:latin typeface="Söhne"/>
              </a:rPr>
              <a:t>Processors communicate with each other using a shared memory space.</a:t>
            </a:r>
          </a:p>
          <a:p>
            <a:pPr lvl="1"/>
            <a:r>
              <a:rPr lang="en-US" b="0" i="0" dirty="0">
                <a:solidFill>
                  <a:srgbClr val="374151"/>
                </a:solidFill>
                <a:effectLst/>
                <a:latin typeface="Söhne"/>
              </a:rPr>
              <a:t>Coordination and communication often occur through the shared memory, allowing processors to access and update data in a common memory location.</a:t>
            </a:r>
          </a:p>
          <a:p>
            <a:pPr algn="l">
              <a:buFont typeface="+mj-lt"/>
              <a:buAutoNum type="arabicPeriod"/>
            </a:pPr>
            <a:r>
              <a:rPr lang="en-US" b="1" i="0" dirty="0">
                <a:solidFill>
                  <a:schemeClr val="accent1"/>
                </a:solidFill>
                <a:effectLst/>
                <a:latin typeface="Söhne"/>
              </a:rPr>
              <a:t>Distributed Computing:</a:t>
            </a:r>
            <a:endParaRPr lang="en-US" b="0" i="0" dirty="0">
              <a:solidFill>
                <a:schemeClr val="accent1"/>
              </a:solidFill>
              <a:effectLst/>
              <a:latin typeface="Söhne"/>
            </a:endParaRPr>
          </a:p>
          <a:p>
            <a:pPr lvl="1"/>
            <a:r>
              <a:rPr lang="en-US" b="0" i="0" dirty="0">
                <a:solidFill>
                  <a:srgbClr val="374151"/>
                </a:solidFill>
                <a:effectLst/>
                <a:latin typeface="Söhne"/>
              </a:rPr>
              <a:t>Involves multiple processors or computing nodes.</a:t>
            </a:r>
          </a:p>
          <a:p>
            <a:pPr lvl="1"/>
            <a:r>
              <a:rPr lang="en-US" b="0" i="0" dirty="0">
                <a:solidFill>
                  <a:srgbClr val="374151"/>
                </a:solidFill>
                <a:effectLst/>
                <a:latin typeface="Söhne"/>
              </a:rPr>
              <a:t>Processors are connected by a communication network (e.g., the internet, an intranet, or other network structures).</a:t>
            </a:r>
          </a:p>
          <a:p>
            <a:pPr lvl="1"/>
            <a:r>
              <a:rPr lang="en-US" b="0" i="0" dirty="0">
                <a:solidFill>
                  <a:srgbClr val="374151"/>
                </a:solidFill>
                <a:effectLst/>
                <a:latin typeface="Söhne"/>
              </a:rPr>
              <a:t>Each processor typically has its own local memory, and communication involves passing messages between nodes rather than sharing a common memory space</a:t>
            </a:r>
          </a:p>
          <a:p>
            <a:endParaRPr lang="en-PK" dirty="0"/>
          </a:p>
        </p:txBody>
      </p:sp>
    </p:spTree>
    <p:extLst>
      <p:ext uri="{BB962C8B-B14F-4D97-AF65-F5344CB8AC3E}">
        <p14:creationId xmlns:p14="http://schemas.microsoft.com/office/powerpoint/2010/main" val="4248348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oreilly.com/library/view/distributed-computing-in/9781787126992/assets/e1153739-f551-4f1f-a44a-8effcd193099.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3427" y="3048000"/>
            <a:ext cx="5657143" cy="246666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7A883C7E-0087-CE77-2A68-8CD44DC7BE1F}"/>
              </a:ext>
            </a:extLst>
          </p:cNvPr>
          <p:cNvGraphicFramePr>
            <a:graphicFrameLocks noGrp="1"/>
          </p:cNvGraphicFramePr>
          <p:nvPr>
            <p:extLst>
              <p:ext uri="{D42A27DB-BD31-4B8C-83A1-F6EECF244321}">
                <p14:modId xmlns:p14="http://schemas.microsoft.com/office/powerpoint/2010/main" val="3151662727"/>
              </p:ext>
            </p:extLst>
          </p:nvPr>
        </p:nvGraphicFramePr>
        <p:xfrm>
          <a:off x="457199" y="838200"/>
          <a:ext cx="8229600" cy="1097280"/>
        </p:xfrm>
        <a:graphic>
          <a:graphicData uri="http://schemas.openxmlformats.org/drawingml/2006/table">
            <a:tbl>
              <a:tblPr>
                <a:tableStyleId>{69CF1AB2-1976-4502-BF36-3FF5EA218861}</a:tableStyleId>
              </a:tblPr>
              <a:tblGrid>
                <a:gridCol w="4114800">
                  <a:extLst>
                    <a:ext uri="{9D8B030D-6E8A-4147-A177-3AD203B41FA5}">
                      <a16:colId xmlns:a16="http://schemas.microsoft.com/office/drawing/2014/main" val="2518163624"/>
                    </a:ext>
                  </a:extLst>
                </a:gridCol>
                <a:gridCol w="4114800">
                  <a:extLst>
                    <a:ext uri="{9D8B030D-6E8A-4147-A177-3AD203B41FA5}">
                      <a16:colId xmlns:a16="http://schemas.microsoft.com/office/drawing/2014/main" val="2352842035"/>
                    </a:ext>
                  </a:extLst>
                </a:gridCol>
              </a:tblGrid>
              <a:tr h="0">
                <a:tc>
                  <a:txBody>
                    <a:bodyPr/>
                    <a:lstStyle/>
                    <a:p>
                      <a:pPr>
                        <a:buNone/>
                      </a:pPr>
                      <a:r>
                        <a:rPr lang="en-US" b="1"/>
                        <a:t>Concept</a:t>
                      </a:r>
                    </a:p>
                  </a:txBody>
                  <a:tcPr anchor="ctr"/>
                </a:tc>
                <a:tc>
                  <a:txBody>
                    <a:bodyPr/>
                    <a:lstStyle/>
                    <a:p>
                      <a:pPr>
                        <a:buNone/>
                      </a:pPr>
                      <a:r>
                        <a:rPr lang="en-US" b="1" dirty="0"/>
                        <a:t>Analogy</a:t>
                      </a:r>
                    </a:p>
                  </a:txBody>
                  <a:tcPr anchor="ctr"/>
                </a:tc>
                <a:extLst>
                  <a:ext uri="{0D108BD9-81ED-4DB2-BD59-A6C34878D82A}">
                    <a16:rowId xmlns:a16="http://schemas.microsoft.com/office/drawing/2014/main" val="1199326324"/>
                  </a:ext>
                </a:extLst>
              </a:tr>
              <a:tr h="0">
                <a:tc>
                  <a:txBody>
                    <a:bodyPr/>
                    <a:lstStyle/>
                    <a:p>
                      <a:pPr>
                        <a:buNone/>
                      </a:pPr>
                      <a:r>
                        <a:rPr lang="en-US"/>
                        <a:t>Parallel Computing</a:t>
                      </a:r>
                    </a:p>
                  </a:txBody>
                  <a:tcPr anchor="ctr"/>
                </a:tc>
                <a:tc>
                  <a:txBody>
                    <a:bodyPr/>
                    <a:lstStyle/>
                    <a:p>
                      <a:pPr>
                        <a:buNone/>
                      </a:pPr>
                      <a:r>
                        <a:rPr lang="en-US" b="0"/>
                        <a:t>One chef using many hands</a:t>
                      </a:r>
                    </a:p>
                  </a:txBody>
                  <a:tcPr anchor="ctr"/>
                </a:tc>
                <a:extLst>
                  <a:ext uri="{0D108BD9-81ED-4DB2-BD59-A6C34878D82A}">
                    <a16:rowId xmlns:a16="http://schemas.microsoft.com/office/drawing/2014/main" val="3896745115"/>
                  </a:ext>
                </a:extLst>
              </a:tr>
              <a:tr h="0">
                <a:tc>
                  <a:txBody>
                    <a:bodyPr/>
                    <a:lstStyle/>
                    <a:p>
                      <a:pPr>
                        <a:buNone/>
                      </a:pPr>
                      <a:r>
                        <a:rPr lang="en-US"/>
                        <a:t>Distributed Computing</a:t>
                      </a:r>
                    </a:p>
                  </a:txBody>
                  <a:tcPr anchor="ctr"/>
                </a:tc>
                <a:tc>
                  <a:txBody>
                    <a:bodyPr/>
                    <a:lstStyle/>
                    <a:p>
                      <a:pPr>
                        <a:buNone/>
                      </a:pPr>
                      <a:r>
                        <a:rPr lang="en-US" b="0" dirty="0"/>
                        <a:t>Many chefs in different kitchens</a:t>
                      </a:r>
                    </a:p>
                  </a:txBody>
                  <a:tcPr anchor="ctr"/>
                </a:tc>
                <a:extLst>
                  <a:ext uri="{0D108BD9-81ED-4DB2-BD59-A6C34878D82A}">
                    <a16:rowId xmlns:a16="http://schemas.microsoft.com/office/drawing/2014/main" val="3012889910"/>
                  </a:ext>
                </a:extLst>
              </a:tr>
            </a:tbl>
          </a:graphicData>
        </a:graphic>
      </p:graphicFrame>
    </p:spTree>
    <p:extLst>
      <p:ext uri="{BB962C8B-B14F-4D97-AF65-F5344CB8AC3E}">
        <p14:creationId xmlns:p14="http://schemas.microsoft.com/office/powerpoint/2010/main" val="3547294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Parallel versus distributed computing</a:t>
            </a:r>
            <a:endParaRPr lang="en-US" dirty="0">
              <a:solidFill>
                <a:schemeClr val="accent1"/>
              </a:solidFill>
            </a:endParaRPr>
          </a:p>
        </p:txBody>
      </p:sp>
      <p:graphicFrame>
        <p:nvGraphicFramePr>
          <p:cNvPr id="4" name="Table 3">
            <a:extLst>
              <a:ext uri="{FF2B5EF4-FFF2-40B4-BE49-F238E27FC236}">
                <a16:creationId xmlns:a16="http://schemas.microsoft.com/office/drawing/2014/main" id="{5F2FFB99-F8A8-560C-FAD9-FC5D44A2C858}"/>
              </a:ext>
            </a:extLst>
          </p:cNvPr>
          <p:cNvGraphicFramePr>
            <a:graphicFrameLocks noGrp="1"/>
          </p:cNvGraphicFramePr>
          <p:nvPr>
            <p:extLst>
              <p:ext uri="{D42A27DB-BD31-4B8C-83A1-F6EECF244321}">
                <p14:modId xmlns:p14="http://schemas.microsoft.com/office/powerpoint/2010/main" val="2221438364"/>
              </p:ext>
            </p:extLst>
          </p:nvPr>
        </p:nvGraphicFramePr>
        <p:xfrm>
          <a:off x="609600" y="2438400"/>
          <a:ext cx="8229600" cy="2194560"/>
        </p:xfrm>
        <a:graphic>
          <a:graphicData uri="http://schemas.openxmlformats.org/drawingml/2006/table">
            <a:tbl>
              <a:tblPr>
                <a:tableStyleId>{69CF1AB2-1976-4502-BF36-3FF5EA218861}</a:tableStyleId>
              </a:tblPr>
              <a:tblGrid>
                <a:gridCol w="2743200">
                  <a:extLst>
                    <a:ext uri="{9D8B030D-6E8A-4147-A177-3AD203B41FA5}">
                      <a16:colId xmlns:a16="http://schemas.microsoft.com/office/drawing/2014/main" val="1978170503"/>
                    </a:ext>
                  </a:extLst>
                </a:gridCol>
                <a:gridCol w="2743200">
                  <a:extLst>
                    <a:ext uri="{9D8B030D-6E8A-4147-A177-3AD203B41FA5}">
                      <a16:colId xmlns:a16="http://schemas.microsoft.com/office/drawing/2014/main" val="2155755786"/>
                    </a:ext>
                  </a:extLst>
                </a:gridCol>
                <a:gridCol w="2743200">
                  <a:extLst>
                    <a:ext uri="{9D8B030D-6E8A-4147-A177-3AD203B41FA5}">
                      <a16:colId xmlns:a16="http://schemas.microsoft.com/office/drawing/2014/main" val="1729430093"/>
                    </a:ext>
                  </a:extLst>
                </a:gridCol>
              </a:tblGrid>
              <a:tr h="0">
                <a:tc>
                  <a:txBody>
                    <a:bodyPr/>
                    <a:lstStyle/>
                    <a:p>
                      <a:pPr>
                        <a:buNone/>
                      </a:pPr>
                      <a:r>
                        <a:rPr lang="en-US" b="1"/>
                        <a:t>Aspect</a:t>
                      </a:r>
                    </a:p>
                  </a:txBody>
                  <a:tcPr anchor="ctr"/>
                </a:tc>
                <a:tc>
                  <a:txBody>
                    <a:bodyPr/>
                    <a:lstStyle/>
                    <a:p>
                      <a:pPr>
                        <a:buNone/>
                      </a:pPr>
                      <a:r>
                        <a:rPr lang="en-US" b="1"/>
                        <a:t>Parallel</a:t>
                      </a:r>
                    </a:p>
                  </a:txBody>
                  <a:tcPr anchor="ctr"/>
                </a:tc>
                <a:tc>
                  <a:txBody>
                    <a:bodyPr/>
                    <a:lstStyle/>
                    <a:p>
                      <a:pPr>
                        <a:buNone/>
                      </a:pPr>
                      <a:r>
                        <a:rPr lang="en-US" b="1" dirty="0"/>
                        <a:t>Distributed</a:t>
                      </a:r>
                    </a:p>
                  </a:txBody>
                  <a:tcPr anchor="ctr"/>
                </a:tc>
                <a:extLst>
                  <a:ext uri="{0D108BD9-81ED-4DB2-BD59-A6C34878D82A}">
                    <a16:rowId xmlns:a16="http://schemas.microsoft.com/office/drawing/2014/main" val="1516126719"/>
                  </a:ext>
                </a:extLst>
              </a:tr>
              <a:tr h="0">
                <a:tc>
                  <a:txBody>
                    <a:bodyPr/>
                    <a:lstStyle/>
                    <a:p>
                      <a:pPr>
                        <a:buNone/>
                      </a:pPr>
                      <a:r>
                        <a:rPr lang="en-US"/>
                        <a:t>Machines</a:t>
                      </a:r>
                    </a:p>
                  </a:txBody>
                  <a:tcPr anchor="ctr"/>
                </a:tc>
                <a:tc>
                  <a:txBody>
                    <a:bodyPr/>
                    <a:lstStyle/>
                    <a:p>
                      <a:pPr>
                        <a:buNone/>
                      </a:pPr>
                      <a:r>
                        <a:rPr lang="en-US"/>
                        <a:t>One</a:t>
                      </a:r>
                    </a:p>
                  </a:txBody>
                  <a:tcPr anchor="ctr"/>
                </a:tc>
                <a:tc>
                  <a:txBody>
                    <a:bodyPr/>
                    <a:lstStyle/>
                    <a:p>
                      <a:pPr>
                        <a:buNone/>
                      </a:pPr>
                      <a:r>
                        <a:rPr lang="en-US"/>
                        <a:t>Many</a:t>
                      </a:r>
                    </a:p>
                  </a:txBody>
                  <a:tcPr anchor="ctr"/>
                </a:tc>
                <a:extLst>
                  <a:ext uri="{0D108BD9-81ED-4DB2-BD59-A6C34878D82A}">
                    <a16:rowId xmlns:a16="http://schemas.microsoft.com/office/drawing/2014/main" val="3386820077"/>
                  </a:ext>
                </a:extLst>
              </a:tr>
              <a:tr h="0">
                <a:tc>
                  <a:txBody>
                    <a:bodyPr/>
                    <a:lstStyle/>
                    <a:p>
                      <a:pPr>
                        <a:buNone/>
                      </a:pPr>
                      <a:r>
                        <a:rPr lang="en-US"/>
                        <a:t>Network</a:t>
                      </a:r>
                    </a:p>
                  </a:txBody>
                  <a:tcPr anchor="ctr"/>
                </a:tc>
                <a:tc>
                  <a:txBody>
                    <a:bodyPr/>
                    <a:lstStyle/>
                    <a:p>
                      <a:pPr>
                        <a:buNone/>
                      </a:pPr>
                      <a:r>
                        <a:rPr lang="en-US"/>
                        <a:t>No</a:t>
                      </a:r>
                    </a:p>
                  </a:txBody>
                  <a:tcPr anchor="ctr"/>
                </a:tc>
                <a:tc>
                  <a:txBody>
                    <a:bodyPr/>
                    <a:lstStyle/>
                    <a:p>
                      <a:pPr>
                        <a:buNone/>
                      </a:pPr>
                      <a:r>
                        <a:rPr lang="en-US"/>
                        <a:t>Yes</a:t>
                      </a:r>
                    </a:p>
                  </a:txBody>
                  <a:tcPr anchor="ctr"/>
                </a:tc>
                <a:extLst>
                  <a:ext uri="{0D108BD9-81ED-4DB2-BD59-A6C34878D82A}">
                    <a16:rowId xmlns:a16="http://schemas.microsoft.com/office/drawing/2014/main" val="3182462307"/>
                  </a:ext>
                </a:extLst>
              </a:tr>
              <a:tr h="0">
                <a:tc>
                  <a:txBody>
                    <a:bodyPr/>
                    <a:lstStyle/>
                    <a:p>
                      <a:pPr>
                        <a:buNone/>
                      </a:pPr>
                      <a:r>
                        <a:rPr lang="en-US"/>
                        <a:t>Failure impact</a:t>
                      </a:r>
                    </a:p>
                  </a:txBody>
                  <a:tcPr anchor="ctr"/>
                </a:tc>
                <a:tc>
                  <a:txBody>
                    <a:bodyPr/>
                    <a:lstStyle/>
                    <a:p>
                      <a:pPr>
                        <a:buNone/>
                      </a:pPr>
                      <a:r>
                        <a:rPr lang="en-US"/>
                        <a:t>High</a:t>
                      </a:r>
                    </a:p>
                  </a:txBody>
                  <a:tcPr anchor="ctr"/>
                </a:tc>
                <a:tc>
                  <a:txBody>
                    <a:bodyPr/>
                    <a:lstStyle/>
                    <a:p>
                      <a:pPr>
                        <a:buNone/>
                      </a:pPr>
                      <a:r>
                        <a:rPr lang="en-US"/>
                        <a:t>Low</a:t>
                      </a:r>
                    </a:p>
                  </a:txBody>
                  <a:tcPr anchor="ctr"/>
                </a:tc>
                <a:extLst>
                  <a:ext uri="{0D108BD9-81ED-4DB2-BD59-A6C34878D82A}">
                    <a16:rowId xmlns:a16="http://schemas.microsoft.com/office/drawing/2014/main" val="1249867868"/>
                  </a:ext>
                </a:extLst>
              </a:tr>
              <a:tr h="0">
                <a:tc>
                  <a:txBody>
                    <a:bodyPr/>
                    <a:lstStyle/>
                    <a:p>
                      <a:pPr>
                        <a:buNone/>
                      </a:pPr>
                      <a:r>
                        <a:rPr lang="en-US"/>
                        <a:t>Speed</a:t>
                      </a:r>
                    </a:p>
                  </a:txBody>
                  <a:tcPr anchor="ctr"/>
                </a:tc>
                <a:tc>
                  <a:txBody>
                    <a:bodyPr/>
                    <a:lstStyle/>
                    <a:p>
                      <a:pPr>
                        <a:buNone/>
                      </a:pPr>
                      <a:r>
                        <a:rPr lang="en-US"/>
                        <a:t>Very high</a:t>
                      </a:r>
                    </a:p>
                  </a:txBody>
                  <a:tcPr anchor="ctr"/>
                </a:tc>
                <a:tc>
                  <a:txBody>
                    <a:bodyPr/>
                    <a:lstStyle/>
                    <a:p>
                      <a:pPr>
                        <a:buNone/>
                      </a:pPr>
                      <a:r>
                        <a:rPr lang="en-US"/>
                        <a:t>Moderate</a:t>
                      </a:r>
                    </a:p>
                  </a:txBody>
                  <a:tcPr anchor="ctr"/>
                </a:tc>
                <a:extLst>
                  <a:ext uri="{0D108BD9-81ED-4DB2-BD59-A6C34878D82A}">
                    <a16:rowId xmlns:a16="http://schemas.microsoft.com/office/drawing/2014/main" val="3175740673"/>
                  </a:ext>
                </a:extLst>
              </a:tr>
              <a:tr h="0">
                <a:tc>
                  <a:txBody>
                    <a:bodyPr/>
                    <a:lstStyle/>
                    <a:p>
                      <a:pPr>
                        <a:buNone/>
                      </a:pPr>
                      <a:r>
                        <a:rPr lang="en-US"/>
                        <a:t>Scalability</a:t>
                      </a:r>
                    </a:p>
                  </a:txBody>
                  <a:tcPr anchor="ctr"/>
                </a:tc>
                <a:tc>
                  <a:txBody>
                    <a:bodyPr/>
                    <a:lstStyle/>
                    <a:p>
                      <a:pPr>
                        <a:buNone/>
                      </a:pPr>
                      <a:r>
                        <a:rPr lang="en-US"/>
                        <a:t>Limited</a:t>
                      </a:r>
                    </a:p>
                  </a:txBody>
                  <a:tcPr anchor="ctr"/>
                </a:tc>
                <a:tc>
                  <a:txBody>
                    <a:bodyPr/>
                    <a:lstStyle/>
                    <a:p>
                      <a:pPr>
                        <a:buNone/>
                      </a:pPr>
                      <a:r>
                        <a:rPr lang="en-US" dirty="0"/>
                        <a:t>Massive</a:t>
                      </a:r>
                    </a:p>
                  </a:txBody>
                  <a:tcPr anchor="ctr"/>
                </a:tc>
                <a:extLst>
                  <a:ext uri="{0D108BD9-81ED-4DB2-BD59-A6C34878D82A}">
                    <a16:rowId xmlns:a16="http://schemas.microsoft.com/office/drawing/2014/main" val="3367623497"/>
                  </a:ext>
                </a:extLst>
              </a:tr>
            </a:tbl>
          </a:graphicData>
        </a:graphic>
      </p:graphicFrame>
    </p:spTree>
    <p:extLst>
      <p:ext uri="{BB962C8B-B14F-4D97-AF65-F5344CB8AC3E}">
        <p14:creationId xmlns:p14="http://schemas.microsoft.com/office/powerpoint/2010/main" val="2667783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72400" cy="1470025"/>
          </a:xfrm>
        </p:spPr>
        <p:txBody>
          <a:bodyPr/>
          <a:lstStyle/>
          <a:p>
            <a:r>
              <a:rPr lang="en-US" dirty="0">
                <a:solidFill>
                  <a:schemeClr val="accent1"/>
                </a:solidFill>
              </a:rPr>
              <a:t>Brief History of Cloud Computing</a:t>
            </a:r>
          </a:p>
        </p:txBody>
      </p:sp>
      <p:sp>
        <p:nvSpPr>
          <p:cNvPr id="3" name="Subtitle 2"/>
          <p:cNvSpPr>
            <a:spLocks noGrp="1"/>
          </p:cNvSpPr>
          <p:nvPr>
            <p:ph type="subTitle" idx="1"/>
          </p:nvPr>
        </p:nvSpPr>
        <p:spPr>
          <a:xfrm>
            <a:off x="1371600" y="3733800"/>
            <a:ext cx="6400800" cy="1752600"/>
          </a:xfrm>
        </p:spPr>
        <p:txBody>
          <a:bodyPr>
            <a:normAutofit fontScale="92500" lnSpcReduction="10000"/>
          </a:bodyPr>
          <a:lstStyle/>
          <a:p>
            <a:r>
              <a:rPr lang="en-US" dirty="0" err="1">
                <a:solidFill>
                  <a:srgbClr val="FF0000"/>
                </a:solidFill>
              </a:rPr>
              <a:t>GenZ</a:t>
            </a:r>
            <a:r>
              <a:rPr lang="en-US" dirty="0">
                <a:solidFill>
                  <a:srgbClr val="FF0000"/>
                </a:solidFill>
              </a:rPr>
              <a:t> may feel like cloud computing is something from their generation, but the truth is that it actually traces its roots back over 60 years. </a:t>
            </a:r>
          </a:p>
          <a:p>
            <a:endParaRPr lang="en-US" dirty="0"/>
          </a:p>
        </p:txBody>
      </p:sp>
    </p:spTree>
    <p:extLst>
      <p:ext uri="{BB962C8B-B14F-4D97-AF65-F5344CB8AC3E}">
        <p14:creationId xmlns:p14="http://schemas.microsoft.com/office/powerpoint/2010/main" val="388999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Brief History of Cloud Computing</a:t>
            </a:r>
          </a:p>
        </p:txBody>
      </p:sp>
      <p:sp>
        <p:nvSpPr>
          <p:cNvPr id="3" name="Content Placeholder 2"/>
          <p:cNvSpPr>
            <a:spLocks noGrp="1"/>
          </p:cNvSpPr>
          <p:nvPr>
            <p:ph idx="1"/>
          </p:nvPr>
        </p:nvSpPr>
        <p:spPr/>
        <p:txBody>
          <a:bodyPr>
            <a:normAutofit/>
          </a:bodyPr>
          <a:lstStyle/>
          <a:p>
            <a:r>
              <a:rPr lang="en-US" dirty="0"/>
              <a:t>Since the 1950s, organizations have been using an increasingly complex and ever-changing system of mainframe computers to process their data. </a:t>
            </a:r>
          </a:p>
          <a:p>
            <a:r>
              <a:rPr lang="en-US" dirty="0"/>
              <a:t>In the early days, mainframe computers were huge and prohibitively expensive.</a:t>
            </a:r>
          </a:p>
        </p:txBody>
      </p:sp>
    </p:spTree>
    <p:extLst>
      <p:ext uri="{BB962C8B-B14F-4D97-AF65-F5344CB8AC3E}">
        <p14:creationId xmlns:p14="http://schemas.microsoft.com/office/powerpoint/2010/main" val="4233472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The Time-Sharing Theory</a:t>
            </a:r>
          </a:p>
        </p:txBody>
      </p:sp>
      <p:sp>
        <p:nvSpPr>
          <p:cNvPr id="3" name="Content Placeholder 2"/>
          <p:cNvSpPr>
            <a:spLocks noGrp="1"/>
          </p:cNvSpPr>
          <p:nvPr>
            <p:ph idx="1"/>
          </p:nvPr>
        </p:nvSpPr>
        <p:spPr/>
        <p:txBody>
          <a:bodyPr>
            <a:normAutofit/>
          </a:bodyPr>
          <a:lstStyle/>
          <a:p>
            <a:r>
              <a:rPr lang="en-US" dirty="0"/>
              <a:t>1955 saw John McCarthy, who originally coined the term “artificial intelligence,” create a theory of sharing computing time among an entire group of users. </a:t>
            </a:r>
          </a:p>
          <a:p>
            <a:r>
              <a:rPr lang="en-US" dirty="0"/>
              <a:t>Getting the most out of computing time was an important consideration in the 1950s because it was a ridiculously expensive asset, and maximizing it was a top priority</a:t>
            </a:r>
          </a:p>
        </p:txBody>
      </p:sp>
    </p:spTree>
    <p:extLst>
      <p:ext uri="{BB962C8B-B14F-4D97-AF65-F5344CB8AC3E}">
        <p14:creationId xmlns:p14="http://schemas.microsoft.com/office/powerpoint/2010/main" val="142418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562600"/>
          </a:xfrm>
        </p:spPr>
        <p:txBody>
          <a:bodyPr/>
          <a:lstStyle/>
          <a:p>
            <a:r>
              <a:rPr lang="en-US" dirty="0"/>
              <a:t>Small companies couldn’t even afford to use computers</a:t>
            </a:r>
          </a:p>
          <a:p>
            <a:endParaRPr lang="en-US" dirty="0"/>
          </a:p>
          <a:p>
            <a:r>
              <a:rPr lang="en-US" dirty="0">
                <a:solidFill>
                  <a:schemeClr val="accent1"/>
                </a:solidFill>
              </a:rPr>
              <a:t>McCarthy’s theory of “time-sharing” </a:t>
            </a:r>
            <a:r>
              <a:rPr lang="en-US" dirty="0"/>
              <a:t>would be essential in helping get the most out of the computing time available, as well as making computing time available to smaller companies that couldn’t afford to buy their own mainframes</a:t>
            </a:r>
          </a:p>
        </p:txBody>
      </p:sp>
    </p:spTree>
    <p:extLst>
      <p:ext uri="{BB962C8B-B14F-4D97-AF65-F5344CB8AC3E}">
        <p14:creationId xmlns:p14="http://schemas.microsoft.com/office/powerpoint/2010/main" val="1557025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A Giant Step for Cloud Computing</a:t>
            </a:r>
          </a:p>
        </p:txBody>
      </p:sp>
      <p:sp>
        <p:nvSpPr>
          <p:cNvPr id="3" name="Content Placeholder 2"/>
          <p:cNvSpPr>
            <a:spLocks noGrp="1"/>
          </p:cNvSpPr>
          <p:nvPr>
            <p:ph idx="1"/>
          </p:nvPr>
        </p:nvSpPr>
        <p:spPr/>
        <p:txBody>
          <a:bodyPr/>
          <a:lstStyle/>
          <a:p>
            <a:r>
              <a:rPr lang="en-US" dirty="0"/>
              <a:t> In the mid-1960s, an American computer scientist named J.C.R. </a:t>
            </a:r>
            <a:r>
              <a:rPr lang="en-US" dirty="0" err="1"/>
              <a:t>Licklider</a:t>
            </a:r>
            <a:r>
              <a:rPr lang="en-US" dirty="0"/>
              <a:t> came up with an idea for an interconnected system of computers. </a:t>
            </a:r>
          </a:p>
          <a:p>
            <a:r>
              <a:rPr lang="en-US" dirty="0"/>
              <a:t>In 1969, </a:t>
            </a:r>
            <a:r>
              <a:rPr lang="en-US" dirty="0" err="1"/>
              <a:t>Licklider’s</a:t>
            </a:r>
            <a:r>
              <a:rPr lang="en-US" dirty="0"/>
              <a:t> revolutionary idea helped Bob Taylor and Larry Roberts develop something known as ARPANET (Advanced Research Projects Agency Network).</a:t>
            </a:r>
          </a:p>
        </p:txBody>
      </p:sp>
    </p:spTree>
    <p:extLst>
      <p:ext uri="{BB962C8B-B14F-4D97-AF65-F5344CB8AC3E}">
        <p14:creationId xmlns:p14="http://schemas.microsoft.com/office/powerpoint/2010/main" val="3412425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0945"/>
            <a:ext cx="8229600" cy="5347855"/>
          </a:xfrm>
        </p:spPr>
        <p:txBody>
          <a:bodyPr/>
          <a:lstStyle/>
          <a:p>
            <a:r>
              <a:rPr lang="en-US" dirty="0"/>
              <a:t>ARPANET is widely known as the “predecessor of the Internet” and was the first network that allowed digital resources to be shared among computers that were not in the same physical location.</a:t>
            </a:r>
          </a:p>
          <a:p>
            <a:endParaRPr lang="en-US" dirty="0"/>
          </a:p>
          <a:p>
            <a:r>
              <a:rPr lang="en-US" dirty="0"/>
              <a:t>On the basis of above advancement , there was emergence of cloud computing concepts that later implemented.</a:t>
            </a:r>
          </a:p>
          <a:p>
            <a:endParaRPr lang="en-US" dirty="0"/>
          </a:p>
          <a:p>
            <a:endParaRPr lang="en-US" dirty="0"/>
          </a:p>
        </p:txBody>
      </p:sp>
    </p:spTree>
    <p:extLst>
      <p:ext uri="{BB962C8B-B14F-4D97-AF65-F5344CB8AC3E}">
        <p14:creationId xmlns:p14="http://schemas.microsoft.com/office/powerpoint/2010/main" val="1185638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a:bodyPr>
          <a:lstStyle/>
          <a:p>
            <a:r>
              <a:rPr lang="en-US" dirty="0"/>
              <a:t>At around in 1961, John </a:t>
            </a:r>
            <a:r>
              <a:rPr lang="en-US" dirty="0" err="1"/>
              <a:t>MacCharty</a:t>
            </a:r>
            <a:r>
              <a:rPr lang="en-US" dirty="0"/>
              <a:t> suggested in a speech at MIT that computing can be sold like a utility, just like a water or electricity. </a:t>
            </a:r>
          </a:p>
          <a:p>
            <a:r>
              <a:rPr lang="en-US" dirty="0"/>
              <a:t>It was a brilliant idea, but like all brilliant ideas, it was ahead if its time, as for the next few decades, despite interest in the model, the technology simply was not ready for it.</a:t>
            </a:r>
          </a:p>
          <a:p>
            <a:r>
              <a:rPr lang="en-US" dirty="0"/>
              <a:t>But of course time has passed and the technology caught that idea and after few years we had following services described in next slide </a:t>
            </a:r>
          </a:p>
        </p:txBody>
      </p:sp>
    </p:spTree>
    <p:extLst>
      <p:ext uri="{BB962C8B-B14F-4D97-AF65-F5344CB8AC3E}">
        <p14:creationId xmlns:p14="http://schemas.microsoft.com/office/powerpoint/2010/main" val="3723061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rPr>
              <a:t>Salesforce.com</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i="1" dirty="0"/>
              <a:t>In 1999, </a:t>
            </a:r>
            <a:r>
              <a:rPr lang="en-US" b="1" dirty="0"/>
              <a:t>Salesforce.com</a:t>
            </a:r>
            <a:r>
              <a:rPr lang="en-US" i="1" dirty="0"/>
              <a:t> started delivering of applications to users using a simple website</a:t>
            </a:r>
            <a:r>
              <a:rPr lang="en-US" dirty="0"/>
              <a:t>. The applications were delivered to enterprises over the Internet, and this way the dream of computing sold as utility were true.</a:t>
            </a:r>
          </a:p>
          <a:p>
            <a:endParaRPr lang="en-US" dirty="0"/>
          </a:p>
          <a:p>
            <a:r>
              <a:rPr lang="en-US" sz="2400" b="0" i="1" dirty="0">
                <a:solidFill>
                  <a:schemeClr val="accent1"/>
                </a:solidFill>
                <a:effectLst/>
                <a:latin typeface="Söhne"/>
              </a:rPr>
              <a:t>Salesforce.com started by providing Customer Relationship Management (CRM) solutions through a web-based platform</a:t>
            </a:r>
            <a:endParaRPr lang="en-US" sz="2400" i="1" dirty="0">
              <a:solidFill>
                <a:schemeClr val="accent1"/>
              </a:solidFill>
            </a:endParaRPr>
          </a:p>
        </p:txBody>
      </p:sp>
    </p:spTree>
    <p:extLst>
      <p:ext uri="{BB962C8B-B14F-4D97-AF65-F5344CB8AC3E}">
        <p14:creationId xmlns:p14="http://schemas.microsoft.com/office/powerpoint/2010/main" val="71778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rPr>
              <a:t>Amazon</a:t>
            </a:r>
            <a:endParaRPr lang="en-US" dirty="0">
              <a:solidFill>
                <a:schemeClr val="accent1"/>
              </a:solidFill>
            </a:endParaRPr>
          </a:p>
        </p:txBody>
      </p:sp>
      <p:sp>
        <p:nvSpPr>
          <p:cNvPr id="3" name="Content Placeholder 2"/>
          <p:cNvSpPr>
            <a:spLocks noGrp="1"/>
          </p:cNvSpPr>
          <p:nvPr>
            <p:ph idx="1"/>
          </p:nvPr>
        </p:nvSpPr>
        <p:spPr/>
        <p:txBody>
          <a:bodyPr/>
          <a:lstStyle/>
          <a:p>
            <a:r>
              <a:rPr lang="en-US" i="1" dirty="0"/>
              <a:t>In 2002, </a:t>
            </a:r>
            <a:r>
              <a:rPr lang="en-US" b="1" dirty="0"/>
              <a:t>Amazon</a:t>
            </a:r>
            <a:r>
              <a:rPr lang="en-US" i="1" dirty="0"/>
              <a:t> started Amazon Web Services</a:t>
            </a:r>
            <a:r>
              <a:rPr lang="en-US" dirty="0"/>
              <a:t>, providing services like storage, computation.</a:t>
            </a:r>
          </a:p>
          <a:p>
            <a:r>
              <a:rPr lang="en-US" dirty="0"/>
              <a:t>However, only starting with the launch of the </a:t>
            </a:r>
            <a:r>
              <a:rPr lang="en-US" dirty="0">
                <a:solidFill>
                  <a:schemeClr val="accent1"/>
                </a:solidFill>
              </a:rPr>
              <a:t>Elastic Compute Cloud in 2006 </a:t>
            </a:r>
            <a:r>
              <a:rPr lang="en-US" dirty="0"/>
              <a:t>a truly commercial service open to everybody</a:t>
            </a:r>
          </a:p>
        </p:txBody>
      </p:sp>
    </p:spTree>
    <p:extLst>
      <p:ext uri="{BB962C8B-B14F-4D97-AF65-F5344CB8AC3E}">
        <p14:creationId xmlns:p14="http://schemas.microsoft.com/office/powerpoint/2010/main" val="2144358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791200"/>
          </a:xfrm>
        </p:spPr>
        <p:txBody>
          <a:bodyPr>
            <a:normAutofit/>
          </a:bodyPr>
          <a:lstStyle/>
          <a:p>
            <a:r>
              <a:rPr lang="en-US" i="1" dirty="0"/>
              <a:t>In 2009, </a:t>
            </a:r>
            <a:r>
              <a:rPr lang="en-US" b="1" dirty="0"/>
              <a:t>Google Apps</a:t>
            </a:r>
            <a:r>
              <a:rPr lang="en-US" i="1" dirty="0"/>
              <a:t> also started to provide cloud computing enterprise applications.</a:t>
            </a:r>
          </a:p>
          <a:p>
            <a:r>
              <a:rPr lang="en-US" dirty="0"/>
              <a:t>Of course, all the big players are present in the cloud computing evolution, some were earlier, some were later. </a:t>
            </a:r>
            <a:r>
              <a:rPr lang="en-US" i="1" dirty="0"/>
              <a:t>In 2009, </a:t>
            </a:r>
            <a:r>
              <a:rPr lang="en-US" b="1" dirty="0"/>
              <a:t>Microsoft</a:t>
            </a:r>
            <a:r>
              <a:rPr lang="en-US" i="1" dirty="0"/>
              <a:t> launched Windows Azure</a:t>
            </a:r>
            <a:r>
              <a:rPr lang="en-US" dirty="0"/>
              <a:t>, and companies like Oracle and HP have all joined the game. </a:t>
            </a:r>
          </a:p>
          <a:p>
            <a:endParaRPr lang="en-US" dirty="0"/>
          </a:p>
          <a:p>
            <a:r>
              <a:rPr lang="en-US" dirty="0">
                <a:solidFill>
                  <a:schemeClr val="accent1"/>
                </a:solidFill>
              </a:rPr>
              <a:t>This proves that today, cloud computing has become mainstream!</a:t>
            </a:r>
          </a:p>
        </p:txBody>
      </p:sp>
    </p:spTree>
    <p:extLst>
      <p:ext uri="{BB962C8B-B14F-4D97-AF65-F5344CB8AC3E}">
        <p14:creationId xmlns:p14="http://schemas.microsoft.com/office/powerpoint/2010/main" val="2369004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8192262"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5A17C3B8-B398-052B-9A63-1E19B82D1CC6}"/>
              </a:ext>
            </a:extLst>
          </p:cNvPr>
          <p:cNvSpPr txBox="1"/>
          <p:nvPr/>
        </p:nvSpPr>
        <p:spPr>
          <a:xfrm>
            <a:off x="228600" y="5155339"/>
            <a:ext cx="4038600" cy="1200329"/>
          </a:xfrm>
          <a:prstGeom prst="rect">
            <a:avLst/>
          </a:prstGeom>
          <a:noFill/>
        </p:spPr>
        <p:txBody>
          <a:bodyPr wrap="square">
            <a:spAutoFit/>
          </a:bodyPr>
          <a:lstStyle/>
          <a:p>
            <a:r>
              <a:rPr lang="en-US" b="0" i="0" dirty="0">
                <a:solidFill>
                  <a:srgbClr val="FF0000"/>
                </a:solidFill>
                <a:effectLst/>
                <a:latin typeface="arial" panose="020B0604020202020204" pitchFamily="34" charset="0"/>
              </a:rPr>
              <a:t>According to latest report </a:t>
            </a:r>
            <a:r>
              <a:rPr lang="en-US" b="1" dirty="0">
                <a:solidFill>
                  <a:srgbClr val="FF0000"/>
                </a:solidFill>
              </a:rPr>
              <a:t>Cloud spending is still growing strongly</a:t>
            </a:r>
            <a:r>
              <a:rPr lang="en-US" dirty="0">
                <a:solidFill>
                  <a:srgbClr val="FF0000"/>
                </a:solidFill>
              </a:rPr>
              <a:t>, led by infrastructure demand for AI and enterprise digital transformation.</a:t>
            </a:r>
            <a:endParaRPr lang="en-PK" dirty="0">
              <a:solidFill>
                <a:srgbClr val="FF0000"/>
              </a:solidFill>
            </a:endParaRPr>
          </a:p>
        </p:txBody>
      </p:sp>
      <p:sp>
        <p:nvSpPr>
          <p:cNvPr id="6" name="TextBox 5">
            <a:extLst>
              <a:ext uri="{FF2B5EF4-FFF2-40B4-BE49-F238E27FC236}">
                <a16:creationId xmlns:a16="http://schemas.microsoft.com/office/drawing/2014/main" id="{16406E0A-DD39-E94B-6B96-B5AD20F3BC38}"/>
              </a:ext>
            </a:extLst>
          </p:cNvPr>
          <p:cNvSpPr txBox="1"/>
          <p:nvPr/>
        </p:nvSpPr>
        <p:spPr>
          <a:xfrm>
            <a:off x="4473702" y="5106124"/>
            <a:ext cx="4572000" cy="646331"/>
          </a:xfrm>
          <a:prstGeom prst="rect">
            <a:avLst/>
          </a:prstGeom>
          <a:noFill/>
        </p:spPr>
        <p:txBody>
          <a:bodyPr wrap="square">
            <a:spAutoFit/>
          </a:bodyPr>
          <a:lstStyle/>
          <a:p>
            <a:r>
              <a:rPr lang="en-US" b="1" dirty="0">
                <a:solidFill>
                  <a:schemeClr val="accent1"/>
                </a:solidFill>
              </a:rPr>
              <a:t>Public cloud spending will exceed $720B in 2025</a:t>
            </a:r>
            <a:r>
              <a:rPr lang="en-US" dirty="0">
                <a:solidFill>
                  <a:schemeClr val="accent1"/>
                </a:solidFill>
              </a:rPr>
              <a:t>.</a:t>
            </a:r>
            <a:endParaRPr lang="en-PK" dirty="0">
              <a:solidFill>
                <a:schemeClr val="accent1"/>
              </a:solidFill>
            </a:endParaRPr>
          </a:p>
        </p:txBody>
      </p:sp>
    </p:spTree>
    <p:extLst>
      <p:ext uri="{BB962C8B-B14F-4D97-AF65-F5344CB8AC3E}">
        <p14:creationId xmlns:p14="http://schemas.microsoft.com/office/powerpoint/2010/main" val="1142011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What is cloud Computing?</a:t>
            </a:r>
          </a:p>
        </p:txBody>
      </p:sp>
      <p:sp>
        <p:nvSpPr>
          <p:cNvPr id="3" name="Content Placeholder 2"/>
          <p:cNvSpPr>
            <a:spLocks noGrp="1"/>
          </p:cNvSpPr>
          <p:nvPr>
            <p:ph idx="1"/>
          </p:nvPr>
        </p:nvSpPr>
        <p:spPr/>
        <p:txBody>
          <a:bodyPr/>
          <a:lstStyle/>
          <a:p>
            <a:pPr marL="514350" indent="-514350">
              <a:buFont typeface="+mj-lt"/>
              <a:buAutoNum type="arabicPeriod"/>
            </a:pPr>
            <a:r>
              <a:rPr lang="en-US" dirty="0"/>
              <a:t> Cloud computing is the delivery of computing services</a:t>
            </a:r>
          </a:p>
          <a:p>
            <a:pPr marL="514350" indent="-514350">
              <a:buFont typeface="+mj-lt"/>
              <a:buAutoNum type="arabicPeriod"/>
            </a:pPr>
            <a:r>
              <a:rPr lang="en-US" dirty="0"/>
              <a:t>including servers, storage, databases, networking, software, analytics, and intelligence over the Internet (“the cloud”) </a:t>
            </a:r>
          </a:p>
          <a:p>
            <a:pPr marL="514350" indent="-514350">
              <a:buFont typeface="+mj-lt"/>
              <a:buAutoNum type="arabicPeriod"/>
            </a:pPr>
            <a:r>
              <a:rPr lang="en-US" dirty="0"/>
              <a:t>and on a pay-as-you-go basis.</a:t>
            </a:r>
          </a:p>
        </p:txBody>
      </p:sp>
    </p:spTree>
    <p:extLst>
      <p:ext uri="{BB962C8B-B14F-4D97-AF65-F5344CB8AC3E}">
        <p14:creationId xmlns:p14="http://schemas.microsoft.com/office/powerpoint/2010/main" val="117944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24200"/>
            <a:ext cx="8229600" cy="1143000"/>
          </a:xfrm>
        </p:spPr>
        <p:txBody>
          <a:bodyPr>
            <a:normAutofit fontScale="90000"/>
          </a:bodyPr>
          <a:lstStyle/>
          <a:p>
            <a:r>
              <a:rPr lang="en-US" b="1" i="1" dirty="0">
                <a:solidFill>
                  <a:schemeClr val="accent1"/>
                </a:solidFill>
              </a:rPr>
              <a:t>So How is the cloud different from the traditional client-server model of the Internet?</a:t>
            </a:r>
            <a:br>
              <a:rPr lang="en-US" b="1" dirty="0"/>
            </a:br>
            <a:endParaRPr lang="en-US" dirty="0"/>
          </a:p>
        </p:txBody>
      </p:sp>
    </p:spTree>
    <p:extLst>
      <p:ext uri="{BB962C8B-B14F-4D97-AF65-F5344CB8AC3E}">
        <p14:creationId xmlns:p14="http://schemas.microsoft.com/office/powerpoint/2010/main" val="2128371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solidFill>
                  <a:schemeClr val="accent1"/>
                </a:solidFill>
              </a:rPr>
              <a:t>cloud </a:t>
            </a:r>
            <a:r>
              <a:rPr lang="en-US" i="1" dirty="0" err="1">
                <a:solidFill>
                  <a:schemeClr val="accent1"/>
                </a:solidFill>
              </a:rPr>
              <a:t>vs</a:t>
            </a:r>
            <a:r>
              <a:rPr lang="en-US" i="1" dirty="0">
                <a:solidFill>
                  <a:schemeClr val="accent1"/>
                </a:solidFill>
              </a:rPr>
              <a:t> traditional client-server model</a:t>
            </a:r>
            <a:endParaRPr lang="en-US" dirty="0">
              <a:solidFill>
                <a:schemeClr val="accent1"/>
              </a:solidFill>
            </a:endParaRPr>
          </a:p>
        </p:txBody>
      </p:sp>
      <p:sp>
        <p:nvSpPr>
          <p:cNvPr id="3" name="Content Placeholder 2"/>
          <p:cNvSpPr>
            <a:spLocks noGrp="1"/>
          </p:cNvSpPr>
          <p:nvPr>
            <p:ph idx="1"/>
          </p:nvPr>
        </p:nvSpPr>
        <p:spPr/>
        <p:txBody>
          <a:bodyPr>
            <a:normAutofit fontScale="92500" lnSpcReduction="20000"/>
          </a:bodyPr>
          <a:lstStyle/>
          <a:p>
            <a:r>
              <a:rPr lang="en-US" dirty="0"/>
              <a:t>The Internet has always been made up of servers, clients, and the infrastructure that connects them </a:t>
            </a:r>
          </a:p>
          <a:p>
            <a:r>
              <a:rPr lang="en-US" dirty="0"/>
              <a:t>Clients make requests of servers, and servers send responses </a:t>
            </a:r>
          </a:p>
          <a:p>
            <a:pPr marL="0" indent="0">
              <a:buNone/>
            </a:pPr>
            <a:r>
              <a:rPr lang="en-US" dirty="0">
                <a:solidFill>
                  <a:srgbClr val="FF0000"/>
                </a:solidFill>
              </a:rPr>
              <a:t>The cloud still uses client–server communication, but it:</a:t>
            </a:r>
          </a:p>
          <a:p>
            <a:pPr marL="0" indent="0">
              <a:buNone/>
            </a:pPr>
            <a:r>
              <a:rPr lang="en-US" dirty="0">
                <a:solidFill>
                  <a:srgbClr val="FF0000"/>
                </a:solidFill>
              </a:rPr>
              <a:t>hides physical servers</a:t>
            </a:r>
          </a:p>
          <a:p>
            <a:pPr marL="0" indent="0">
              <a:buNone/>
            </a:pPr>
            <a:r>
              <a:rPr lang="en-US" dirty="0">
                <a:solidFill>
                  <a:srgbClr val="FF0000"/>
                </a:solidFill>
              </a:rPr>
              <a:t>adds virtualization</a:t>
            </a:r>
          </a:p>
          <a:p>
            <a:pPr marL="0" indent="0">
              <a:buNone/>
            </a:pPr>
            <a:r>
              <a:rPr lang="en-US" dirty="0">
                <a:solidFill>
                  <a:srgbClr val="FF0000"/>
                </a:solidFill>
              </a:rPr>
              <a:t>adds elastic scaling</a:t>
            </a:r>
          </a:p>
          <a:p>
            <a:pPr marL="0" indent="0">
              <a:buNone/>
            </a:pPr>
            <a:r>
              <a:rPr lang="en-US" dirty="0">
                <a:solidFill>
                  <a:srgbClr val="FF0000"/>
                </a:solidFill>
              </a:rPr>
              <a:t>adds service models (IaaS, PaaS, SaaS)</a:t>
            </a:r>
          </a:p>
          <a:p>
            <a:endParaRPr lang="en-US" dirty="0"/>
          </a:p>
        </p:txBody>
      </p:sp>
    </p:spTree>
    <p:extLst>
      <p:ext uri="{BB962C8B-B14F-4D97-AF65-F5344CB8AC3E}">
        <p14:creationId xmlns:p14="http://schemas.microsoft.com/office/powerpoint/2010/main" val="3162645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07DAB-30BB-D5D7-A1F3-A72BE8103272}"/>
              </a:ext>
            </a:extLst>
          </p:cNvPr>
          <p:cNvSpPr>
            <a:spLocks noGrp="1"/>
          </p:cNvSpPr>
          <p:nvPr>
            <p:ph type="title"/>
          </p:nvPr>
        </p:nvSpPr>
        <p:spPr/>
        <p:txBody>
          <a:bodyPr/>
          <a:lstStyle/>
          <a:p>
            <a:r>
              <a:rPr lang="en-US" dirty="0">
                <a:solidFill>
                  <a:schemeClr val="accent1"/>
                </a:solidFill>
              </a:rPr>
              <a:t>Example</a:t>
            </a:r>
            <a:endParaRPr lang="en-PK" dirty="0">
              <a:solidFill>
                <a:schemeClr val="accent1"/>
              </a:solidFill>
            </a:endParaRPr>
          </a:p>
        </p:txBody>
      </p:sp>
      <p:sp>
        <p:nvSpPr>
          <p:cNvPr id="3" name="Content Placeholder 2">
            <a:extLst>
              <a:ext uri="{FF2B5EF4-FFF2-40B4-BE49-F238E27FC236}">
                <a16:creationId xmlns:a16="http://schemas.microsoft.com/office/drawing/2014/main" id="{CADFDD70-DEAA-E0A0-D3F7-281AE5241ABF}"/>
              </a:ext>
            </a:extLst>
          </p:cNvPr>
          <p:cNvSpPr>
            <a:spLocks noGrp="1"/>
          </p:cNvSpPr>
          <p:nvPr>
            <p:ph idx="1"/>
          </p:nvPr>
        </p:nvSpPr>
        <p:spPr/>
        <p:txBody>
          <a:bodyPr>
            <a:normAutofit fontScale="85000" lnSpcReduction="20000"/>
          </a:bodyPr>
          <a:lstStyle/>
          <a:p>
            <a:pPr marL="0" indent="0">
              <a:buNone/>
            </a:pPr>
            <a:r>
              <a:rPr lang="en-US" dirty="0"/>
              <a:t>Imagine using a </a:t>
            </a:r>
            <a:r>
              <a:rPr lang="en-US" b="1" dirty="0"/>
              <a:t>photo editing app</a:t>
            </a:r>
            <a:r>
              <a:rPr lang="en-US" dirty="0"/>
              <a:t> on your phone:</a:t>
            </a:r>
          </a:p>
          <a:p>
            <a:pPr>
              <a:buFont typeface="Arial" panose="020B0604020202020204" pitchFamily="34" charset="0"/>
              <a:buChar char="•"/>
            </a:pPr>
            <a:r>
              <a:rPr lang="en-US" dirty="0">
                <a:solidFill>
                  <a:srgbClr val="FF0000"/>
                </a:solidFill>
              </a:rPr>
              <a:t>Without cloud computing: </a:t>
            </a:r>
            <a:r>
              <a:rPr lang="en-US" dirty="0"/>
              <a:t>The phone's hardware would process all image transformations (e.g., filters, effects, AI enhancements).</a:t>
            </a:r>
          </a:p>
          <a:p>
            <a:pPr>
              <a:buFont typeface="Arial" panose="020B0604020202020204" pitchFamily="34" charset="0"/>
              <a:buChar char="•"/>
            </a:pPr>
            <a:r>
              <a:rPr lang="en-US" dirty="0">
                <a:solidFill>
                  <a:srgbClr val="FF0000"/>
                </a:solidFill>
              </a:rPr>
              <a:t>With cloud computing: </a:t>
            </a:r>
            <a:r>
              <a:rPr lang="en-US" dirty="0"/>
              <a:t>The app sends the photo and your chosen effect to a cloud server. The server applies the effect using its powerful resources and sends the result back to your phone.</a:t>
            </a:r>
          </a:p>
          <a:p>
            <a:pPr marL="0" indent="0">
              <a:buNone/>
            </a:pPr>
            <a:r>
              <a:rPr lang="en-US" dirty="0"/>
              <a:t>This approach enables clients (like smartphones, browsers, or IoT devices) to remain lightweight while benefiting from the immense computing power of the cloud.</a:t>
            </a:r>
          </a:p>
          <a:p>
            <a:endParaRPr lang="en-PK" dirty="0"/>
          </a:p>
        </p:txBody>
      </p:sp>
    </p:spTree>
    <p:extLst>
      <p:ext uri="{BB962C8B-B14F-4D97-AF65-F5344CB8AC3E}">
        <p14:creationId xmlns:p14="http://schemas.microsoft.com/office/powerpoint/2010/main" val="1189695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223F-A9B7-221B-B789-58D4B7CA3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C302E-3234-6F5E-BF62-C23200613449}"/>
              </a:ext>
            </a:extLst>
          </p:cNvPr>
          <p:cNvSpPr>
            <a:spLocks noGrp="1"/>
          </p:cNvSpPr>
          <p:nvPr>
            <p:ph type="title"/>
          </p:nvPr>
        </p:nvSpPr>
        <p:spPr/>
        <p:txBody>
          <a:bodyPr/>
          <a:lstStyle/>
          <a:p>
            <a:r>
              <a:rPr lang="en-US" dirty="0">
                <a:solidFill>
                  <a:schemeClr val="accent1"/>
                </a:solidFill>
              </a:rPr>
              <a:t>Example</a:t>
            </a:r>
            <a:endParaRPr lang="en-PK" dirty="0">
              <a:solidFill>
                <a:schemeClr val="accent1"/>
              </a:solidFill>
            </a:endParaRPr>
          </a:p>
        </p:txBody>
      </p:sp>
      <p:sp>
        <p:nvSpPr>
          <p:cNvPr id="3" name="Content Placeholder 2">
            <a:extLst>
              <a:ext uri="{FF2B5EF4-FFF2-40B4-BE49-F238E27FC236}">
                <a16:creationId xmlns:a16="http://schemas.microsoft.com/office/drawing/2014/main" id="{B03BD24F-0049-0882-6D45-F4ACFDB2C9FF}"/>
              </a:ext>
            </a:extLst>
          </p:cNvPr>
          <p:cNvSpPr>
            <a:spLocks noGrp="1"/>
          </p:cNvSpPr>
          <p:nvPr>
            <p:ph idx="1"/>
          </p:nvPr>
        </p:nvSpPr>
        <p:spPr/>
        <p:txBody>
          <a:bodyPr>
            <a:normAutofit fontScale="92500" lnSpcReduction="10000"/>
          </a:bodyPr>
          <a:lstStyle/>
          <a:p>
            <a:r>
              <a:rPr lang="en-US" dirty="0"/>
              <a:t>A </a:t>
            </a:r>
            <a:r>
              <a:rPr lang="en-US" b="1" dirty="0"/>
              <a:t>smart home security camera</a:t>
            </a:r>
            <a:r>
              <a:rPr lang="en-US" dirty="0"/>
              <a:t> (e.g., Ring, Nest) is an IoT device that captures video and sends it to the cloud for processing. </a:t>
            </a:r>
          </a:p>
          <a:p>
            <a:r>
              <a:rPr lang="en-US"/>
              <a:t>The </a:t>
            </a:r>
            <a:r>
              <a:rPr lang="en-US" dirty="0"/>
              <a:t>cloud performs heavy tasks like motion detection, facial recognition, and video storage, while the device remains lightweight and power-efficient</a:t>
            </a:r>
            <a:r>
              <a:rPr lang="en-US"/>
              <a:t>. </a:t>
            </a:r>
          </a:p>
          <a:p>
            <a:r>
              <a:rPr lang="en-US"/>
              <a:t>Users </a:t>
            </a:r>
            <a:r>
              <a:rPr lang="en-US" dirty="0"/>
              <a:t>interact with the system via apps or browsers, benefiting from real-time access and advanced cloud-powered features.</a:t>
            </a:r>
            <a:endParaRPr lang="en-PK" dirty="0"/>
          </a:p>
        </p:txBody>
      </p:sp>
    </p:spTree>
    <p:extLst>
      <p:ext uri="{BB962C8B-B14F-4D97-AF65-F5344CB8AC3E}">
        <p14:creationId xmlns:p14="http://schemas.microsoft.com/office/powerpoint/2010/main" val="2370818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8C9B2-EBC6-FE78-492A-5DA9FCE01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A1FE9-D023-FA1C-E38B-D8B2F80619A2}"/>
              </a:ext>
            </a:extLst>
          </p:cNvPr>
          <p:cNvSpPr>
            <a:spLocks noGrp="1"/>
          </p:cNvSpPr>
          <p:nvPr>
            <p:ph type="title"/>
          </p:nvPr>
        </p:nvSpPr>
        <p:spPr/>
        <p:txBody>
          <a:bodyPr/>
          <a:lstStyle/>
          <a:p>
            <a:r>
              <a:rPr lang="en-US" dirty="0">
                <a:solidFill>
                  <a:schemeClr val="accent1"/>
                </a:solidFill>
              </a:rPr>
              <a:t>Example</a:t>
            </a:r>
            <a:endParaRPr lang="en-PK" dirty="0">
              <a:solidFill>
                <a:schemeClr val="accent1"/>
              </a:solidFill>
            </a:endParaRPr>
          </a:p>
        </p:txBody>
      </p:sp>
      <p:sp>
        <p:nvSpPr>
          <p:cNvPr id="3" name="Content Placeholder 2">
            <a:extLst>
              <a:ext uri="{FF2B5EF4-FFF2-40B4-BE49-F238E27FC236}">
                <a16:creationId xmlns:a16="http://schemas.microsoft.com/office/drawing/2014/main" id="{2590E1BF-4A01-4614-3410-574F77D74095}"/>
              </a:ext>
            </a:extLst>
          </p:cNvPr>
          <p:cNvSpPr>
            <a:spLocks noGrp="1"/>
          </p:cNvSpPr>
          <p:nvPr>
            <p:ph idx="1"/>
          </p:nvPr>
        </p:nvSpPr>
        <p:spPr/>
        <p:txBody>
          <a:bodyPr/>
          <a:lstStyle/>
          <a:p>
            <a:r>
              <a:rPr lang="en-US" dirty="0"/>
              <a:t>Google Drive allows users to store files in the cloud. Instead of just requesting files from a server, users can upload, edit, and manage files directly in the cloud, with Google’s servers handling the storage, processing, and synchronization across device</a:t>
            </a:r>
            <a:endParaRPr lang="en-PK" dirty="0"/>
          </a:p>
        </p:txBody>
      </p:sp>
    </p:spTree>
    <p:extLst>
      <p:ext uri="{BB962C8B-B14F-4D97-AF65-F5344CB8AC3E}">
        <p14:creationId xmlns:p14="http://schemas.microsoft.com/office/powerpoint/2010/main" val="3534846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5A88-9F9B-634D-20C9-5C1F109FB46E}"/>
              </a:ext>
            </a:extLst>
          </p:cNvPr>
          <p:cNvSpPr>
            <a:spLocks noGrp="1"/>
          </p:cNvSpPr>
          <p:nvPr>
            <p:ph type="title"/>
          </p:nvPr>
        </p:nvSpPr>
        <p:spPr/>
        <p:txBody>
          <a:bodyPr/>
          <a:lstStyle/>
          <a:p>
            <a:r>
              <a:rPr lang="en-US" dirty="0">
                <a:solidFill>
                  <a:schemeClr val="accent1"/>
                </a:solidFill>
              </a:rPr>
              <a:t>Other key differences</a:t>
            </a:r>
            <a:endParaRPr lang="en-PK" dirty="0">
              <a:solidFill>
                <a:schemeClr val="accent1"/>
              </a:solidFill>
            </a:endParaRPr>
          </a:p>
        </p:txBody>
      </p:sp>
      <p:sp>
        <p:nvSpPr>
          <p:cNvPr id="3" name="Content Placeholder 2">
            <a:extLst>
              <a:ext uri="{FF2B5EF4-FFF2-40B4-BE49-F238E27FC236}">
                <a16:creationId xmlns:a16="http://schemas.microsoft.com/office/drawing/2014/main" id="{FFF4ECCA-1AA9-5EE8-127C-3013BDB5A6BE}"/>
              </a:ext>
            </a:extLst>
          </p:cNvPr>
          <p:cNvSpPr>
            <a:spLocks noGrp="1"/>
          </p:cNvSpPr>
          <p:nvPr>
            <p:ph idx="1"/>
          </p:nvPr>
        </p:nvSpPr>
        <p:spPr/>
        <p:txBody>
          <a:bodyPr/>
          <a:lstStyle/>
          <a:p>
            <a:pPr marL="0" indent="0" algn="l">
              <a:buNone/>
            </a:pPr>
            <a:r>
              <a:rPr lang="en-US" b="1" i="0" dirty="0">
                <a:solidFill>
                  <a:schemeClr val="accent1"/>
                </a:solidFill>
                <a:effectLst/>
                <a:latin typeface="Söhne"/>
              </a:rPr>
              <a:t>Resource Location and Ownership:</a:t>
            </a:r>
            <a:endParaRPr lang="en-US" b="0" i="0" dirty="0">
              <a:solidFill>
                <a:schemeClr val="accent1"/>
              </a:solidFill>
              <a:effectLst/>
              <a:latin typeface="Söhne"/>
            </a:endParaRPr>
          </a:p>
          <a:p>
            <a:pPr algn="l">
              <a:buFont typeface="Arial" panose="020B0604020202020204" pitchFamily="34" charset="0"/>
              <a:buChar char="•"/>
            </a:pPr>
            <a:r>
              <a:rPr lang="en-US" b="0" i="1" dirty="0">
                <a:solidFill>
                  <a:srgbClr val="374151"/>
                </a:solidFill>
                <a:effectLst/>
                <a:latin typeface="Söhne"/>
              </a:rPr>
              <a:t>Traditional Client-Server Model:</a:t>
            </a:r>
            <a:r>
              <a:rPr lang="en-US" b="0" i="0" dirty="0">
                <a:solidFill>
                  <a:srgbClr val="374151"/>
                </a:solidFill>
                <a:effectLst/>
                <a:latin typeface="Söhne"/>
              </a:rPr>
              <a:t> Applications and data are hosted on organization-owned servers in </a:t>
            </a:r>
            <a:r>
              <a:rPr lang="en-US" b="0" i="0" dirty="0">
                <a:solidFill>
                  <a:srgbClr val="FF0000"/>
                </a:solidFill>
                <a:effectLst/>
                <a:latin typeface="Söhne"/>
              </a:rPr>
              <a:t>on-premises data centers</a:t>
            </a:r>
            <a:r>
              <a:rPr lang="en-US" b="0" i="0" dirty="0">
                <a:solidFill>
                  <a:srgbClr val="374151"/>
                </a:solidFill>
                <a:effectLst/>
                <a:latin typeface="Söhne"/>
              </a:rPr>
              <a:t>.</a:t>
            </a:r>
          </a:p>
          <a:p>
            <a:pPr algn="l">
              <a:buFont typeface="Arial" panose="020B0604020202020204" pitchFamily="34" charset="0"/>
              <a:buChar char="•"/>
            </a:pPr>
            <a:r>
              <a:rPr lang="en-US" b="0" i="1" dirty="0">
                <a:solidFill>
                  <a:srgbClr val="374151"/>
                </a:solidFill>
                <a:effectLst/>
                <a:latin typeface="Söhne"/>
              </a:rPr>
              <a:t>Cloud Computing:</a:t>
            </a:r>
            <a:r>
              <a:rPr lang="en-US" b="0" i="0" dirty="0">
                <a:solidFill>
                  <a:srgbClr val="374151"/>
                </a:solidFill>
                <a:effectLst/>
                <a:latin typeface="Söhne"/>
              </a:rPr>
              <a:t> Cloud services, including servers, storage, and applications, are hosted and managed by </a:t>
            </a:r>
            <a:r>
              <a:rPr lang="en-US" b="0" i="0" dirty="0">
                <a:solidFill>
                  <a:srgbClr val="FF0000"/>
                </a:solidFill>
                <a:effectLst/>
                <a:latin typeface="Söhne"/>
              </a:rPr>
              <a:t>third-party vendors</a:t>
            </a:r>
            <a:r>
              <a:rPr lang="en-US" b="0" i="0" dirty="0">
                <a:solidFill>
                  <a:srgbClr val="374151"/>
                </a:solidFill>
                <a:effectLst/>
                <a:latin typeface="Söhne"/>
              </a:rPr>
              <a:t>; users don't own the physical infrastructure.</a:t>
            </a:r>
          </a:p>
          <a:p>
            <a:endParaRPr lang="en-PK" dirty="0"/>
          </a:p>
        </p:txBody>
      </p:sp>
    </p:spTree>
    <p:extLst>
      <p:ext uri="{BB962C8B-B14F-4D97-AF65-F5344CB8AC3E}">
        <p14:creationId xmlns:p14="http://schemas.microsoft.com/office/powerpoint/2010/main" val="4056759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5A88-9F9B-634D-20C9-5C1F109FB46E}"/>
              </a:ext>
            </a:extLst>
          </p:cNvPr>
          <p:cNvSpPr>
            <a:spLocks noGrp="1"/>
          </p:cNvSpPr>
          <p:nvPr>
            <p:ph type="title"/>
          </p:nvPr>
        </p:nvSpPr>
        <p:spPr/>
        <p:txBody>
          <a:bodyPr/>
          <a:lstStyle/>
          <a:p>
            <a:r>
              <a:rPr lang="en-US" dirty="0">
                <a:solidFill>
                  <a:schemeClr val="accent1"/>
                </a:solidFill>
              </a:rPr>
              <a:t>Other key differences .</a:t>
            </a:r>
            <a:endParaRPr lang="en-PK" dirty="0">
              <a:solidFill>
                <a:schemeClr val="accent1"/>
              </a:solidFill>
            </a:endParaRPr>
          </a:p>
        </p:txBody>
      </p:sp>
      <p:sp>
        <p:nvSpPr>
          <p:cNvPr id="3" name="Content Placeholder 2">
            <a:extLst>
              <a:ext uri="{FF2B5EF4-FFF2-40B4-BE49-F238E27FC236}">
                <a16:creationId xmlns:a16="http://schemas.microsoft.com/office/drawing/2014/main" id="{FFF4ECCA-1AA9-5EE8-127C-3013BDB5A6BE}"/>
              </a:ext>
            </a:extLst>
          </p:cNvPr>
          <p:cNvSpPr>
            <a:spLocks noGrp="1"/>
          </p:cNvSpPr>
          <p:nvPr>
            <p:ph idx="1"/>
          </p:nvPr>
        </p:nvSpPr>
        <p:spPr/>
        <p:txBody>
          <a:bodyPr>
            <a:normAutofit lnSpcReduction="10000"/>
          </a:bodyPr>
          <a:lstStyle/>
          <a:p>
            <a:pPr marL="0" indent="0" algn="l">
              <a:buNone/>
            </a:pPr>
            <a:r>
              <a:rPr lang="en-US" b="1" i="0" dirty="0">
                <a:solidFill>
                  <a:schemeClr val="accent1"/>
                </a:solidFill>
                <a:effectLst/>
                <a:latin typeface="Söhne"/>
              </a:rPr>
              <a:t>Scalability:</a:t>
            </a:r>
            <a:endParaRPr lang="en-US" b="0" i="0" dirty="0">
              <a:solidFill>
                <a:schemeClr val="accent1"/>
              </a:solidFill>
              <a:effectLst/>
              <a:latin typeface="Söhne"/>
            </a:endParaRPr>
          </a:p>
          <a:p>
            <a:pPr algn="l">
              <a:buFont typeface="Arial" panose="020B0604020202020204" pitchFamily="34" charset="0"/>
              <a:buChar char="•"/>
            </a:pPr>
            <a:r>
              <a:rPr lang="en-US" b="0" i="1" dirty="0">
                <a:solidFill>
                  <a:srgbClr val="374151"/>
                </a:solidFill>
                <a:effectLst/>
                <a:latin typeface="Söhne"/>
              </a:rPr>
              <a:t>Traditional Client-Server Model:</a:t>
            </a:r>
            <a:r>
              <a:rPr lang="en-US" b="0" i="0" dirty="0">
                <a:solidFill>
                  <a:srgbClr val="374151"/>
                </a:solidFill>
                <a:effectLst/>
                <a:latin typeface="Söhne"/>
              </a:rPr>
              <a:t> Scaling involves investing in additional hardware and infrastructure, requiring time and </a:t>
            </a:r>
            <a:r>
              <a:rPr lang="en-US" b="0" i="0" dirty="0">
                <a:solidFill>
                  <a:srgbClr val="FF0000"/>
                </a:solidFill>
                <a:effectLst/>
                <a:latin typeface="Söhne"/>
              </a:rPr>
              <a:t>upfront investment</a:t>
            </a:r>
            <a:r>
              <a:rPr lang="en-US" b="0" i="0" dirty="0">
                <a:solidFill>
                  <a:srgbClr val="374151"/>
                </a:solidFill>
                <a:effectLst/>
                <a:latin typeface="Söhne"/>
              </a:rPr>
              <a:t>.</a:t>
            </a:r>
          </a:p>
          <a:p>
            <a:pPr algn="l">
              <a:buFont typeface="Arial" panose="020B0604020202020204" pitchFamily="34" charset="0"/>
              <a:buChar char="•"/>
            </a:pPr>
            <a:r>
              <a:rPr lang="en-US" b="0" i="1" dirty="0">
                <a:solidFill>
                  <a:srgbClr val="374151"/>
                </a:solidFill>
                <a:effectLst/>
                <a:latin typeface="Söhne"/>
              </a:rPr>
              <a:t>Cloud Computing:</a:t>
            </a:r>
            <a:r>
              <a:rPr lang="en-US" b="0" i="0" dirty="0">
                <a:solidFill>
                  <a:srgbClr val="374151"/>
                </a:solidFill>
                <a:effectLst/>
                <a:latin typeface="Söhne"/>
              </a:rPr>
              <a:t> Cloud services offer on-demand scalability, allowing users to adjust resources </a:t>
            </a:r>
            <a:r>
              <a:rPr lang="en-US" b="0" i="0" dirty="0">
                <a:solidFill>
                  <a:srgbClr val="FF0000"/>
                </a:solidFill>
                <a:effectLst/>
                <a:latin typeface="Söhne"/>
              </a:rPr>
              <a:t>based on needs</a:t>
            </a:r>
            <a:r>
              <a:rPr lang="en-US" b="0" i="0" dirty="0">
                <a:solidFill>
                  <a:srgbClr val="374151"/>
                </a:solidFill>
                <a:effectLst/>
                <a:latin typeface="Söhne"/>
              </a:rPr>
              <a:t>, promoting cost efficiency and agility.</a:t>
            </a:r>
          </a:p>
          <a:p>
            <a:endParaRPr lang="en-PK" dirty="0"/>
          </a:p>
        </p:txBody>
      </p:sp>
    </p:spTree>
    <p:extLst>
      <p:ext uri="{BB962C8B-B14F-4D97-AF65-F5344CB8AC3E}">
        <p14:creationId xmlns:p14="http://schemas.microsoft.com/office/powerpoint/2010/main" val="523221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5A88-9F9B-634D-20C9-5C1F109FB46E}"/>
              </a:ext>
            </a:extLst>
          </p:cNvPr>
          <p:cNvSpPr>
            <a:spLocks noGrp="1"/>
          </p:cNvSpPr>
          <p:nvPr>
            <p:ph type="title"/>
          </p:nvPr>
        </p:nvSpPr>
        <p:spPr/>
        <p:txBody>
          <a:bodyPr/>
          <a:lstStyle/>
          <a:p>
            <a:r>
              <a:rPr lang="en-US" dirty="0">
                <a:solidFill>
                  <a:schemeClr val="accent1"/>
                </a:solidFill>
              </a:rPr>
              <a:t>Other key differences ..</a:t>
            </a:r>
            <a:endParaRPr lang="en-PK" dirty="0">
              <a:solidFill>
                <a:schemeClr val="accent1"/>
              </a:solidFill>
            </a:endParaRPr>
          </a:p>
        </p:txBody>
      </p:sp>
      <p:sp>
        <p:nvSpPr>
          <p:cNvPr id="3" name="Content Placeholder 2">
            <a:extLst>
              <a:ext uri="{FF2B5EF4-FFF2-40B4-BE49-F238E27FC236}">
                <a16:creationId xmlns:a16="http://schemas.microsoft.com/office/drawing/2014/main" id="{FFF4ECCA-1AA9-5EE8-127C-3013BDB5A6BE}"/>
              </a:ext>
            </a:extLst>
          </p:cNvPr>
          <p:cNvSpPr>
            <a:spLocks noGrp="1"/>
          </p:cNvSpPr>
          <p:nvPr>
            <p:ph idx="1"/>
          </p:nvPr>
        </p:nvSpPr>
        <p:spPr/>
        <p:txBody>
          <a:bodyPr>
            <a:normAutofit lnSpcReduction="10000"/>
          </a:bodyPr>
          <a:lstStyle/>
          <a:p>
            <a:pPr algn="l"/>
            <a:r>
              <a:rPr lang="en-US" b="1" i="0" dirty="0">
                <a:solidFill>
                  <a:schemeClr val="accent1"/>
                </a:solidFill>
                <a:effectLst/>
                <a:latin typeface="Söhne"/>
              </a:rPr>
              <a:t>Accessibility and Location Independence:</a:t>
            </a:r>
            <a:endParaRPr lang="en-US" b="0" i="0" dirty="0">
              <a:solidFill>
                <a:schemeClr val="accent1"/>
              </a:solidFill>
              <a:effectLst/>
              <a:latin typeface="Söhne"/>
            </a:endParaRPr>
          </a:p>
          <a:p>
            <a:pPr algn="l">
              <a:buFont typeface="Arial" panose="020B0604020202020204" pitchFamily="34" charset="0"/>
              <a:buChar char="•"/>
            </a:pPr>
            <a:r>
              <a:rPr lang="en-US" b="0" i="1" dirty="0">
                <a:solidFill>
                  <a:srgbClr val="374151"/>
                </a:solidFill>
                <a:effectLst/>
                <a:latin typeface="Söhne"/>
              </a:rPr>
              <a:t>Traditional Client-Server Model:</a:t>
            </a:r>
            <a:r>
              <a:rPr lang="en-US" b="0" i="0" dirty="0">
                <a:solidFill>
                  <a:srgbClr val="374151"/>
                </a:solidFill>
                <a:effectLst/>
                <a:latin typeface="Söhne"/>
              </a:rPr>
              <a:t> Access is typically limited to </a:t>
            </a:r>
            <a:r>
              <a:rPr lang="en-US" b="0" i="0" dirty="0">
                <a:solidFill>
                  <a:srgbClr val="FF0000"/>
                </a:solidFill>
                <a:effectLst/>
                <a:latin typeface="Söhne"/>
              </a:rPr>
              <a:t>local networks </a:t>
            </a:r>
            <a:r>
              <a:rPr lang="en-US" b="0" i="0" dirty="0">
                <a:solidFill>
                  <a:srgbClr val="374151"/>
                </a:solidFill>
                <a:effectLst/>
                <a:latin typeface="Söhne"/>
              </a:rPr>
              <a:t>or VPNs, requiring physical presence or complex setups for remote access.</a:t>
            </a:r>
          </a:p>
          <a:p>
            <a:pPr algn="l">
              <a:buFont typeface="Arial" panose="020B0604020202020204" pitchFamily="34" charset="0"/>
              <a:buChar char="•"/>
            </a:pPr>
            <a:r>
              <a:rPr lang="en-US" b="0" i="1" dirty="0">
                <a:solidFill>
                  <a:srgbClr val="374151"/>
                </a:solidFill>
                <a:effectLst/>
                <a:latin typeface="Söhne"/>
              </a:rPr>
              <a:t>Cloud Computing:</a:t>
            </a:r>
            <a:r>
              <a:rPr lang="en-US" b="0" i="0" dirty="0">
                <a:solidFill>
                  <a:srgbClr val="374151"/>
                </a:solidFill>
                <a:effectLst/>
                <a:latin typeface="Söhne"/>
              </a:rPr>
              <a:t> Cloud services are accessible over the internet, providing flexibility for remote access from various locations and devices.</a:t>
            </a:r>
          </a:p>
          <a:p>
            <a:endParaRPr lang="en-PK" dirty="0"/>
          </a:p>
        </p:txBody>
      </p:sp>
    </p:spTree>
    <p:extLst>
      <p:ext uri="{BB962C8B-B14F-4D97-AF65-F5344CB8AC3E}">
        <p14:creationId xmlns:p14="http://schemas.microsoft.com/office/powerpoint/2010/main" val="3834855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5A88-9F9B-634D-20C9-5C1F109FB46E}"/>
              </a:ext>
            </a:extLst>
          </p:cNvPr>
          <p:cNvSpPr>
            <a:spLocks noGrp="1"/>
          </p:cNvSpPr>
          <p:nvPr>
            <p:ph type="title"/>
          </p:nvPr>
        </p:nvSpPr>
        <p:spPr/>
        <p:txBody>
          <a:bodyPr/>
          <a:lstStyle/>
          <a:p>
            <a:r>
              <a:rPr lang="en-US" dirty="0">
                <a:solidFill>
                  <a:schemeClr val="accent1"/>
                </a:solidFill>
              </a:rPr>
              <a:t>Other key differences …</a:t>
            </a:r>
            <a:endParaRPr lang="en-PK" dirty="0">
              <a:solidFill>
                <a:schemeClr val="accent1"/>
              </a:solidFill>
            </a:endParaRPr>
          </a:p>
        </p:txBody>
      </p:sp>
      <p:sp>
        <p:nvSpPr>
          <p:cNvPr id="3" name="Content Placeholder 2">
            <a:extLst>
              <a:ext uri="{FF2B5EF4-FFF2-40B4-BE49-F238E27FC236}">
                <a16:creationId xmlns:a16="http://schemas.microsoft.com/office/drawing/2014/main" id="{FFF4ECCA-1AA9-5EE8-127C-3013BDB5A6BE}"/>
              </a:ext>
            </a:extLst>
          </p:cNvPr>
          <p:cNvSpPr>
            <a:spLocks noGrp="1"/>
          </p:cNvSpPr>
          <p:nvPr>
            <p:ph idx="1"/>
          </p:nvPr>
        </p:nvSpPr>
        <p:spPr/>
        <p:txBody>
          <a:bodyPr>
            <a:normAutofit/>
          </a:bodyPr>
          <a:lstStyle/>
          <a:p>
            <a:pPr algn="l"/>
            <a:r>
              <a:rPr lang="en-US" b="1" i="0" dirty="0">
                <a:solidFill>
                  <a:schemeClr val="accent1"/>
                </a:solidFill>
                <a:effectLst/>
                <a:latin typeface="Söhne"/>
              </a:rPr>
              <a:t>Cost Model:</a:t>
            </a:r>
            <a:endParaRPr lang="en-US" b="0" i="0" dirty="0">
              <a:solidFill>
                <a:schemeClr val="accent1"/>
              </a:solidFill>
              <a:effectLst/>
              <a:latin typeface="Söhne"/>
            </a:endParaRPr>
          </a:p>
          <a:p>
            <a:pPr algn="l">
              <a:buFont typeface="Arial" panose="020B0604020202020204" pitchFamily="34" charset="0"/>
              <a:buChar char="•"/>
            </a:pPr>
            <a:r>
              <a:rPr lang="en-US" b="0" i="1" dirty="0">
                <a:solidFill>
                  <a:srgbClr val="374151"/>
                </a:solidFill>
                <a:effectLst/>
                <a:latin typeface="Söhne"/>
              </a:rPr>
              <a:t>Traditional Client-Server Model:</a:t>
            </a:r>
            <a:r>
              <a:rPr lang="en-US" b="0" i="0" dirty="0">
                <a:solidFill>
                  <a:srgbClr val="374151"/>
                </a:solidFill>
                <a:effectLst/>
                <a:latin typeface="Söhne"/>
              </a:rPr>
              <a:t> Organizations bear </a:t>
            </a:r>
            <a:r>
              <a:rPr lang="en-US" b="0" i="0" dirty="0">
                <a:solidFill>
                  <a:srgbClr val="FF0000"/>
                </a:solidFill>
                <a:effectLst/>
                <a:latin typeface="Söhne"/>
              </a:rPr>
              <a:t>upfront costs </a:t>
            </a:r>
            <a:r>
              <a:rPr lang="en-US" b="0" i="0" dirty="0">
                <a:solidFill>
                  <a:srgbClr val="374151"/>
                </a:solidFill>
                <a:effectLst/>
                <a:latin typeface="Söhne"/>
              </a:rPr>
              <a:t>for hardware, software, data centers, and IT staff.</a:t>
            </a:r>
          </a:p>
          <a:p>
            <a:pPr algn="l">
              <a:buFont typeface="Arial" panose="020B0604020202020204" pitchFamily="34" charset="0"/>
              <a:buChar char="•"/>
            </a:pPr>
            <a:r>
              <a:rPr lang="en-US" b="0" i="1" dirty="0">
                <a:solidFill>
                  <a:srgbClr val="374151"/>
                </a:solidFill>
                <a:effectLst/>
                <a:latin typeface="Söhne"/>
              </a:rPr>
              <a:t>Cloud Computing:</a:t>
            </a:r>
            <a:r>
              <a:rPr lang="en-US" b="0" i="0" dirty="0">
                <a:solidFill>
                  <a:srgbClr val="374151"/>
                </a:solidFill>
                <a:effectLst/>
                <a:latin typeface="Söhne"/>
              </a:rPr>
              <a:t> Cloud services operate on a </a:t>
            </a:r>
            <a:r>
              <a:rPr lang="en-US" b="0" i="0" dirty="0">
                <a:solidFill>
                  <a:srgbClr val="FF0000"/>
                </a:solidFill>
                <a:effectLst/>
                <a:latin typeface="Söhne"/>
              </a:rPr>
              <a:t>pay-as-you-go or subscription model</a:t>
            </a:r>
            <a:r>
              <a:rPr lang="en-US" b="0" i="0" dirty="0">
                <a:solidFill>
                  <a:srgbClr val="374151"/>
                </a:solidFill>
                <a:effectLst/>
                <a:latin typeface="Söhne"/>
              </a:rPr>
              <a:t>, avoiding large upfront capital expenditures, making it cost-effective for varying workloads.</a:t>
            </a:r>
          </a:p>
          <a:p>
            <a:endParaRPr lang="en-PK" dirty="0"/>
          </a:p>
        </p:txBody>
      </p:sp>
    </p:spTree>
    <p:extLst>
      <p:ext uri="{BB962C8B-B14F-4D97-AF65-F5344CB8AC3E}">
        <p14:creationId xmlns:p14="http://schemas.microsoft.com/office/powerpoint/2010/main" val="2134875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5A88-9F9B-634D-20C9-5C1F109FB46E}"/>
              </a:ext>
            </a:extLst>
          </p:cNvPr>
          <p:cNvSpPr>
            <a:spLocks noGrp="1"/>
          </p:cNvSpPr>
          <p:nvPr>
            <p:ph type="title"/>
          </p:nvPr>
        </p:nvSpPr>
        <p:spPr/>
        <p:txBody>
          <a:bodyPr/>
          <a:lstStyle/>
          <a:p>
            <a:r>
              <a:rPr lang="en-US" dirty="0">
                <a:solidFill>
                  <a:schemeClr val="accent1"/>
                </a:solidFill>
              </a:rPr>
              <a:t>Other key differences ….</a:t>
            </a:r>
            <a:endParaRPr lang="en-PK" dirty="0">
              <a:solidFill>
                <a:schemeClr val="accent1"/>
              </a:solidFill>
            </a:endParaRPr>
          </a:p>
        </p:txBody>
      </p:sp>
      <p:sp>
        <p:nvSpPr>
          <p:cNvPr id="3" name="Content Placeholder 2">
            <a:extLst>
              <a:ext uri="{FF2B5EF4-FFF2-40B4-BE49-F238E27FC236}">
                <a16:creationId xmlns:a16="http://schemas.microsoft.com/office/drawing/2014/main" id="{FFF4ECCA-1AA9-5EE8-127C-3013BDB5A6BE}"/>
              </a:ext>
            </a:extLst>
          </p:cNvPr>
          <p:cNvSpPr>
            <a:spLocks noGrp="1"/>
          </p:cNvSpPr>
          <p:nvPr>
            <p:ph idx="1"/>
          </p:nvPr>
        </p:nvSpPr>
        <p:spPr/>
        <p:txBody>
          <a:bodyPr>
            <a:normAutofit lnSpcReduction="10000"/>
          </a:bodyPr>
          <a:lstStyle/>
          <a:p>
            <a:pPr algn="l"/>
            <a:r>
              <a:rPr lang="en-US" b="1" i="0" dirty="0">
                <a:solidFill>
                  <a:schemeClr val="accent1"/>
                </a:solidFill>
                <a:effectLst/>
                <a:latin typeface="Söhne"/>
              </a:rPr>
              <a:t>Maintenance and Updates:</a:t>
            </a:r>
            <a:endParaRPr lang="en-US" b="0" i="0" dirty="0">
              <a:solidFill>
                <a:schemeClr val="accent1"/>
              </a:solidFill>
              <a:effectLst/>
              <a:latin typeface="Söhne"/>
            </a:endParaRPr>
          </a:p>
          <a:p>
            <a:pPr algn="l">
              <a:buFont typeface="Arial" panose="020B0604020202020204" pitchFamily="34" charset="0"/>
              <a:buChar char="•"/>
            </a:pPr>
            <a:r>
              <a:rPr lang="en-US" b="0" i="1" dirty="0">
                <a:solidFill>
                  <a:srgbClr val="374151"/>
                </a:solidFill>
                <a:effectLst/>
                <a:latin typeface="Söhne"/>
              </a:rPr>
              <a:t>Traditional Client-Server Model:</a:t>
            </a:r>
            <a:r>
              <a:rPr lang="en-US" b="0" i="0" dirty="0">
                <a:solidFill>
                  <a:srgbClr val="374151"/>
                </a:solidFill>
                <a:effectLst/>
                <a:latin typeface="Söhne"/>
              </a:rPr>
              <a:t> Organizations manage maintenance, updates, and security, potentially leading to downtime.</a:t>
            </a:r>
          </a:p>
          <a:p>
            <a:pPr algn="l">
              <a:buFont typeface="Arial" panose="020B0604020202020204" pitchFamily="34" charset="0"/>
              <a:buChar char="•"/>
            </a:pPr>
            <a:r>
              <a:rPr lang="en-US" b="0" i="1" dirty="0">
                <a:solidFill>
                  <a:srgbClr val="374151"/>
                </a:solidFill>
                <a:effectLst/>
                <a:latin typeface="Söhne"/>
              </a:rPr>
              <a:t>Cloud Computing:</a:t>
            </a:r>
            <a:r>
              <a:rPr lang="en-US" b="0" i="0" dirty="0">
                <a:solidFill>
                  <a:srgbClr val="374151"/>
                </a:solidFill>
                <a:effectLst/>
                <a:latin typeface="Söhne"/>
              </a:rPr>
              <a:t> Cloud service providers handle infrastructure maintenance, updates, and security, allowing users to focus on application use without managing the underlying infrastructure.</a:t>
            </a:r>
          </a:p>
          <a:p>
            <a:endParaRPr lang="en-PK" dirty="0"/>
          </a:p>
        </p:txBody>
      </p:sp>
    </p:spTree>
    <p:extLst>
      <p:ext uri="{BB962C8B-B14F-4D97-AF65-F5344CB8AC3E}">
        <p14:creationId xmlns:p14="http://schemas.microsoft.com/office/powerpoint/2010/main" val="2099069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How does cloud computing work?</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r>
              <a:rPr lang="en-US" dirty="0"/>
              <a:t>Rather than owning their own computing infrastructure or data centers, companies can rent access to anything from applications to storage from a cloud service provider </a:t>
            </a:r>
          </a:p>
          <a:p>
            <a:r>
              <a:rPr lang="en-US" dirty="0"/>
              <a:t>They can avoid the upfront cost and complexity of owning and maintaining their own IT infrastructure, and instead simply pay for what they use, when they use it.</a:t>
            </a:r>
          </a:p>
          <a:p>
            <a:r>
              <a:rPr lang="en-US" dirty="0"/>
              <a:t>In turn, providers of cloud-computing services can benefit from significant economies of scale by delivering the same services to a wide range of customers.</a:t>
            </a:r>
          </a:p>
        </p:txBody>
      </p:sp>
    </p:spTree>
    <p:extLst>
      <p:ext uri="{BB962C8B-B14F-4D97-AF65-F5344CB8AC3E}">
        <p14:creationId xmlns:p14="http://schemas.microsoft.com/office/powerpoint/2010/main" val="941099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Examples of cloud computing</a:t>
            </a:r>
          </a:p>
        </p:txBody>
      </p:sp>
      <p:sp>
        <p:nvSpPr>
          <p:cNvPr id="3" name="Content Placeholder 2"/>
          <p:cNvSpPr>
            <a:spLocks noGrp="1"/>
          </p:cNvSpPr>
          <p:nvPr>
            <p:ph idx="1"/>
          </p:nvPr>
        </p:nvSpPr>
        <p:spPr/>
        <p:txBody>
          <a:bodyPr>
            <a:normAutofit fontScale="85000" lnSpcReduction="10000"/>
          </a:bodyPr>
          <a:lstStyle/>
          <a:p>
            <a:r>
              <a:rPr lang="en-US" b="1" dirty="0"/>
              <a:t>Consumer services like Gmail or the cloud backup of the photos on your smartphone , </a:t>
            </a:r>
            <a:r>
              <a:rPr lang="en-US" b="1" dirty="0" err="1"/>
              <a:t>OneDrive</a:t>
            </a:r>
            <a:r>
              <a:rPr lang="en-US" b="1" dirty="0"/>
              <a:t> </a:t>
            </a:r>
            <a:r>
              <a:rPr lang="en-US" b="1" dirty="0" err="1"/>
              <a:t>etc</a:t>
            </a:r>
            <a:endParaRPr lang="en-US" b="1" dirty="0"/>
          </a:p>
          <a:p>
            <a:r>
              <a:rPr lang="en-US" dirty="0"/>
              <a:t>Some large enterprises host all their data and run all of their applications in the cloud.</a:t>
            </a:r>
          </a:p>
          <a:p>
            <a:pPr marL="0" indent="0">
              <a:buNone/>
            </a:pPr>
            <a:r>
              <a:rPr lang="en-US" b="1" dirty="0"/>
              <a:t>Netflix as an Example:</a:t>
            </a:r>
            <a:r>
              <a:rPr lang="en-US" dirty="0"/>
              <a:t> Netflix is a prime example of a company relying on cloud computing services. It uses Amazon Web Services (AWS) to host its video-streaming service and various business systems. This allows Netflix to scale its infrastructure based on demand, ensuring a smooth streaming experience for users worldwide.</a:t>
            </a:r>
            <a:endParaRPr lang="en-US" i="1" dirty="0">
              <a:solidFill>
                <a:srgbClr val="FF0000"/>
              </a:solidFill>
            </a:endParaRPr>
          </a:p>
        </p:txBody>
      </p:sp>
    </p:spTree>
    <p:extLst>
      <p:ext uri="{BB962C8B-B14F-4D97-AF65-F5344CB8AC3E}">
        <p14:creationId xmlns:p14="http://schemas.microsoft.com/office/powerpoint/2010/main" val="191218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5943600"/>
          </a:xfrm>
        </p:spPr>
        <p:txBody>
          <a:bodyPr>
            <a:normAutofit fontScale="92500" lnSpcReduction="10000"/>
          </a:bodyPr>
          <a:lstStyle/>
          <a:p>
            <a:r>
              <a:rPr lang="en-US" dirty="0"/>
              <a:t>Cloud computing is not just for organizations and businesses</a:t>
            </a:r>
          </a:p>
          <a:p>
            <a:r>
              <a:rPr lang="en-US" dirty="0"/>
              <a:t>it’s also useful for the average person as well</a:t>
            </a:r>
          </a:p>
          <a:p>
            <a:r>
              <a:rPr lang="en-US" dirty="0"/>
              <a:t>It enables us to run software programs without installing them on our computers</a:t>
            </a:r>
          </a:p>
          <a:p>
            <a:r>
              <a:rPr lang="en-US" dirty="0"/>
              <a:t>it enables us to store and access our multimedia content via the internet</a:t>
            </a:r>
          </a:p>
          <a:p>
            <a:r>
              <a:rPr lang="en-US" dirty="0"/>
              <a:t>it enables us to develop and test programs without necessarily having servers and so on</a:t>
            </a:r>
          </a:p>
          <a:p>
            <a:r>
              <a:rPr lang="en-US" dirty="0"/>
              <a:t>Cloud computing is a 21st-century marvel that holds its importance in almost every field you can think of!</a:t>
            </a:r>
          </a:p>
        </p:txBody>
      </p:sp>
    </p:spTree>
    <p:extLst>
      <p:ext uri="{BB962C8B-B14F-4D97-AF65-F5344CB8AC3E}">
        <p14:creationId xmlns:p14="http://schemas.microsoft.com/office/powerpoint/2010/main" val="1592058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TotalTime>
  <Words>1653</Words>
  <Application>Microsoft Office PowerPoint</Application>
  <PresentationFormat>On-screen Show (4:3)</PresentationFormat>
  <Paragraphs>139</Paragraphs>
  <Slides>31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Arial</vt:lpstr>
      <vt:lpstr>Calibri</vt:lpstr>
      <vt:lpstr>Helvetica</vt:lpstr>
      <vt:lpstr>Söhne</vt:lpstr>
      <vt:lpstr>Times New Roman</vt:lpstr>
      <vt:lpstr>Wingdings</vt:lpstr>
      <vt:lpstr>Office Theme</vt:lpstr>
      <vt:lpstr>PowerPoint Presentation</vt:lpstr>
      <vt:lpstr>Instructor</vt:lpstr>
      <vt:lpstr>Course Outline</vt:lpstr>
      <vt:lpstr>PowerPoint Presentation</vt:lpstr>
      <vt:lpstr>PowerPoint Presentation</vt:lpstr>
      <vt:lpstr>Parallel versus distributed computing</vt:lpstr>
      <vt:lpstr>Brief History of Cloud Computing</vt:lpstr>
      <vt:lpstr>Brief History of Cloud Computing</vt:lpstr>
      <vt:lpstr>The Time-Sharing Theory</vt:lpstr>
      <vt:lpstr>PowerPoint Presentation</vt:lpstr>
      <vt:lpstr>A Giant Step for Cloud Computing</vt:lpstr>
      <vt:lpstr>PowerPoint Presentation</vt:lpstr>
      <vt:lpstr>PowerPoint Presentation</vt:lpstr>
      <vt:lpstr>Salesforce.com</vt:lpstr>
      <vt:lpstr>Amazon</vt:lpstr>
      <vt:lpstr>PowerPoint Presentation</vt:lpstr>
      <vt:lpstr>PowerPoint Presentation</vt:lpstr>
      <vt:lpstr>What is cloud Computing?</vt:lpstr>
      <vt:lpstr>So How is the cloud different from the traditional client-server model of the Internet? </vt:lpstr>
      <vt:lpstr>cloud vs traditional client-server model</vt:lpstr>
      <vt:lpstr>Example</vt:lpstr>
      <vt:lpstr>Example</vt:lpstr>
      <vt:lpstr>Example</vt:lpstr>
      <vt:lpstr>Other key differences</vt:lpstr>
      <vt:lpstr>Other key differences .</vt:lpstr>
      <vt:lpstr>Other key differences ..</vt:lpstr>
      <vt:lpstr>Other key differences …</vt:lpstr>
      <vt:lpstr>Other key differences ….</vt:lpstr>
      <vt:lpstr>How does cloud computing work?</vt:lpstr>
      <vt:lpstr>Examples of cloud computing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History of Cloud Computing</dc:title>
  <dc:creator>Faisal</dc:creator>
  <cp:lastModifiedBy>Faisal Bin Ubaid</cp:lastModifiedBy>
  <cp:revision>18</cp:revision>
  <dcterms:created xsi:type="dcterms:W3CDTF">2022-03-01T07:25:15Z</dcterms:created>
  <dcterms:modified xsi:type="dcterms:W3CDTF">2026-01-13T06:30:06Z</dcterms:modified>
</cp:coreProperties>
</file>